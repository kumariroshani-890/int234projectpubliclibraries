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7556500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3012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363" y="1750055"/>
            <a:ext cx="6423775" cy="3722887"/>
          </a:xfrm>
        </p:spPr>
        <p:txBody>
          <a:bodyPr anchor="b">
            <a:normAutofit/>
          </a:bodyPr>
          <a:lstStyle>
            <a:lvl1pPr algn="ctr"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6363" y="5616511"/>
            <a:ext cx="6423775" cy="2581762"/>
          </a:xfrm>
        </p:spPr>
        <p:txBody>
          <a:bodyPr/>
          <a:lstStyle>
            <a:lvl1pPr marL="0" indent="0" algn="ctr">
              <a:buNone/>
              <a:defRPr sz="1983"/>
            </a:lvl1pPr>
            <a:lvl2pPr marL="377830" indent="0" algn="ctr">
              <a:buNone/>
              <a:defRPr sz="1653"/>
            </a:lvl2pPr>
            <a:lvl3pPr marL="755660" indent="0" algn="ctr">
              <a:buNone/>
              <a:defRPr sz="1488"/>
            </a:lvl3pPr>
            <a:lvl4pPr marL="1133490" indent="0" algn="ctr">
              <a:buNone/>
              <a:defRPr sz="1322"/>
            </a:lvl4pPr>
            <a:lvl5pPr marL="1511320" indent="0" algn="ctr">
              <a:buNone/>
              <a:defRPr sz="1322"/>
            </a:lvl5pPr>
            <a:lvl6pPr marL="1889150" indent="0" algn="ctr">
              <a:buNone/>
              <a:defRPr sz="1322"/>
            </a:lvl6pPr>
            <a:lvl7pPr marL="2266980" indent="0" algn="ctr">
              <a:buNone/>
              <a:defRPr sz="1322"/>
            </a:lvl7pPr>
            <a:lvl8pPr marL="2644811" indent="0" algn="ctr">
              <a:buNone/>
              <a:defRPr sz="1322"/>
            </a:lvl8pPr>
            <a:lvl9pPr marL="3022641" indent="0" algn="ctr">
              <a:buNone/>
              <a:defRPr sz="132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8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815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75" y="1024788"/>
            <a:ext cx="6032750" cy="4448157"/>
          </a:xfrm>
        </p:spPr>
        <p:txBody>
          <a:bodyPr anchor="b">
            <a:normAutofit/>
          </a:bodyPr>
          <a:lstStyle>
            <a:lvl1pPr>
              <a:defRPr sz="2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875" y="5616514"/>
            <a:ext cx="6032750" cy="2339180"/>
          </a:xfrm>
        </p:spPr>
        <p:txBody>
          <a:bodyPr/>
          <a:lstStyle>
            <a:lvl1pPr marL="0" indent="0" algn="ctr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1pPr>
            <a:lvl2pPr marL="377830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03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364" y="950527"/>
            <a:ext cx="6417175" cy="20680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363" y="3256233"/>
            <a:ext cx="3164659" cy="5773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6223" y="3256233"/>
            <a:ext cx="3157315" cy="5773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82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364" y="950527"/>
            <a:ext cx="6417175" cy="2066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499" y="3256233"/>
            <a:ext cx="2975269" cy="128469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983" b="1"/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362" y="4540924"/>
            <a:ext cx="3165405" cy="4489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15614" y="3256233"/>
            <a:ext cx="2967924" cy="128469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983" b="1"/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5478" y="4540924"/>
            <a:ext cx="3158060" cy="4489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322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34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09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490" y="950525"/>
            <a:ext cx="2437168" cy="3683282"/>
          </a:xfrm>
        </p:spPr>
        <p:txBody>
          <a:bodyPr anchor="b">
            <a:normAutofit/>
          </a:bodyPr>
          <a:lstStyle>
            <a:lvl1pPr>
              <a:defRPr sz="23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7342" y="950524"/>
            <a:ext cx="3836196" cy="807945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8490" y="4633809"/>
            <a:ext cx="2437168" cy="4396174"/>
          </a:xfrm>
        </p:spPr>
        <p:txBody>
          <a:bodyPr/>
          <a:lstStyle>
            <a:lvl1pPr marL="0" indent="0" algn="ctr">
              <a:buNone/>
              <a:defRPr sz="1322"/>
            </a:lvl1pPr>
            <a:lvl2pPr marL="377830" indent="0">
              <a:buNone/>
              <a:defRPr sz="1157"/>
            </a:lvl2pPr>
            <a:lvl3pPr marL="755660" indent="0">
              <a:buNone/>
              <a:defRPr sz="992"/>
            </a:lvl3pPr>
            <a:lvl4pPr marL="1133490" indent="0">
              <a:buNone/>
              <a:defRPr sz="826"/>
            </a:lvl4pPr>
            <a:lvl5pPr marL="1511320" indent="0">
              <a:buNone/>
              <a:defRPr sz="826"/>
            </a:lvl5pPr>
            <a:lvl6pPr marL="1889150" indent="0">
              <a:buNone/>
              <a:defRPr sz="826"/>
            </a:lvl6pPr>
            <a:lvl7pPr marL="2266980" indent="0">
              <a:buNone/>
              <a:defRPr sz="826"/>
            </a:lvl7pPr>
            <a:lvl8pPr marL="2644811" indent="0">
              <a:buNone/>
              <a:defRPr sz="826"/>
            </a:lvl8pPr>
            <a:lvl9pPr marL="3022641" indent="0">
              <a:buNone/>
              <a:defRPr sz="8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686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491" y="950525"/>
            <a:ext cx="3444061" cy="3683282"/>
          </a:xfrm>
        </p:spPr>
        <p:txBody>
          <a:bodyPr anchor="b">
            <a:normAutofit/>
          </a:bodyPr>
          <a:lstStyle>
            <a:lvl1pPr>
              <a:defRPr sz="26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38485" y="1183292"/>
            <a:ext cx="2451845" cy="7613922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644"/>
            </a:lvl1pPr>
            <a:lvl2pPr marL="377830" indent="0">
              <a:buNone/>
              <a:defRPr sz="2314"/>
            </a:lvl2pPr>
            <a:lvl3pPr marL="755660" indent="0">
              <a:buNone/>
              <a:defRPr sz="1983"/>
            </a:lvl3pPr>
            <a:lvl4pPr marL="1133490" indent="0">
              <a:buNone/>
              <a:defRPr sz="1653"/>
            </a:lvl4pPr>
            <a:lvl5pPr marL="1511320" indent="0">
              <a:buNone/>
              <a:defRPr sz="1653"/>
            </a:lvl5pPr>
            <a:lvl6pPr marL="1889150" indent="0">
              <a:buNone/>
              <a:defRPr sz="1653"/>
            </a:lvl6pPr>
            <a:lvl7pPr marL="2266980" indent="0">
              <a:buNone/>
              <a:defRPr sz="1653"/>
            </a:lvl7pPr>
            <a:lvl8pPr marL="2644811" indent="0">
              <a:buNone/>
              <a:defRPr sz="1653"/>
            </a:lvl8pPr>
            <a:lvl9pPr marL="3022641" indent="0">
              <a:buNone/>
              <a:defRPr sz="16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362" y="4633806"/>
            <a:ext cx="3447068" cy="4396176"/>
          </a:xfrm>
        </p:spPr>
        <p:txBody>
          <a:bodyPr>
            <a:normAutofit/>
          </a:bodyPr>
          <a:lstStyle>
            <a:lvl1pPr marL="0" indent="0" algn="ctr">
              <a:buNone/>
              <a:defRPr sz="1488"/>
            </a:lvl1pPr>
            <a:lvl2pPr marL="377830" indent="0">
              <a:buNone/>
              <a:defRPr sz="1157"/>
            </a:lvl2pPr>
            <a:lvl3pPr marL="755660" indent="0">
              <a:buNone/>
              <a:defRPr sz="992"/>
            </a:lvl3pPr>
            <a:lvl4pPr marL="1133490" indent="0">
              <a:buNone/>
              <a:defRPr sz="826"/>
            </a:lvl4pPr>
            <a:lvl5pPr marL="1511320" indent="0">
              <a:buNone/>
              <a:defRPr sz="826"/>
            </a:lvl5pPr>
            <a:lvl6pPr marL="1889150" indent="0">
              <a:buNone/>
              <a:defRPr sz="826"/>
            </a:lvl6pPr>
            <a:lvl7pPr marL="2266980" indent="0">
              <a:buNone/>
              <a:defRPr sz="826"/>
            </a:lvl7pPr>
            <a:lvl8pPr marL="2644811" indent="0">
              <a:buNone/>
              <a:defRPr sz="826"/>
            </a:lvl8pPr>
            <a:lvl9pPr marL="3022641" indent="0">
              <a:buNone/>
              <a:defRPr sz="8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36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370" y="6688245"/>
            <a:ext cx="6425730" cy="1277587"/>
          </a:xfrm>
        </p:spPr>
        <p:txBody>
          <a:bodyPr anchor="b">
            <a:normAutofit/>
          </a:bodyPr>
          <a:lstStyle>
            <a:lvl1pPr>
              <a:defRPr sz="23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6370" y="968803"/>
            <a:ext cx="6425730" cy="5269883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644"/>
            </a:lvl1pPr>
            <a:lvl2pPr marL="377830" indent="0">
              <a:buNone/>
              <a:defRPr sz="2314"/>
            </a:lvl2pPr>
            <a:lvl3pPr marL="755660" indent="0">
              <a:buNone/>
              <a:defRPr sz="1983"/>
            </a:lvl3pPr>
            <a:lvl4pPr marL="1133490" indent="0">
              <a:buNone/>
              <a:defRPr sz="1653"/>
            </a:lvl4pPr>
            <a:lvl5pPr marL="1511320" indent="0">
              <a:buNone/>
              <a:defRPr sz="1653"/>
            </a:lvl5pPr>
            <a:lvl6pPr marL="1889150" indent="0">
              <a:buNone/>
              <a:defRPr sz="1653"/>
            </a:lvl6pPr>
            <a:lvl7pPr marL="2266980" indent="0">
              <a:buNone/>
              <a:defRPr sz="1653"/>
            </a:lvl7pPr>
            <a:lvl8pPr marL="2644811" indent="0">
              <a:buNone/>
              <a:defRPr sz="1653"/>
            </a:lvl8pPr>
            <a:lvl9pPr marL="3022641" indent="0">
              <a:buNone/>
              <a:defRPr sz="16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363" y="7965831"/>
            <a:ext cx="6424760" cy="1064151"/>
          </a:xfrm>
        </p:spPr>
        <p:txBody>
          <a:bodyPr>
            <a:normAutofit/>
          </a:bodyPr>
          <a:lstStyle>
            <a:lvl1pPr marL="0" indent="0" algn="ctr">
              <a:buNone/>
              <a:defRPr sz="1488"/>
            </a:lvl1pPr>
            <a:lvl2pPr marL="377830" indent="0">
              <a:buNone/>
              <a:defRPr sz="1157"/>
            </a:lvl2pPr>
            <a:lvl3pPr marL="755660" indent="0">
              <a:buNone/>
              <a:defRPr sz="992"/>
            </a:lvl3pPr>
            <a:lvl4pPr marL="1133490" indent="0">
              <a:buNone/>
              <a:defRPr sz="826"/>
            </a:lvl4pPr>
            <a:lvl5pPr marL="1511320" indent="0">
              <a:buNone/>
              <a:defRPr sz="826"/>
            </a:lvl5pPr>
            <a:lvl6pPr marL="1889150" indent="0">
              <a:buNone/>
              <a:defRPr sz="826"/>
            </a:lvl6pPr>
            <a:lvl7pPr marL="2266980" indent="0">
              <a:buNone/>
              <a:defRPr sz="826"/>
            </a:lvl7pPr>
            <a:lvl8pPr marL="2644811" indent="0">
              <a:buNone/>
              <a:defRPr sz="826"/>
            </a:lvl8pPr>
            <a:lvl9pPr marL="3022641" indent="0">
              <a:buNone/>
              <a:defRPr sz="8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61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362" y="950527"/>
            <a:ext cx="6417176" cy="5340243"/>
          </a:xfrm>
        </p:spPr>
        <p:txBody>
          <a:bodyPr anchor="ctr"/>
          <a:lstStyle>
            <a:lvl1pPr>
              <a:defRPr sz="26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364" y="6556404"/>
            <a:ext cx="6417175" cy="2482631"/>
          </a:xfrm>
        </p:spPr>
        <p:txBody>
          <a:bodyPr anchor="ctr"/>
          <a:lstStyle>
            <a:lvl1pPr marL="0" indent="0" algn="ctr">
              <a:buNone/>
              <a:defRPr sz="1322"/>
            </a:lvl1pPr>
            <a:lvl2pPr marL="377830" indent="0">
              <a:buNone/>
              <a:defRPr sz="1157"/>
            </a:lvl2pPr>
            <a:lvl3pPr marL="755660" indent="0">
              <a:buNone/>
              <a:defRPr sz="992"/>
            </a:lvl3pPr>
            <a:lvl4pPr marL="1133490" indent="0">
              <a:buNone/>
              <a:defRPr sz="826"/>
            </a:lvl4pPr>
            <a:lvl5pPr marL="1511320" indent="0">
              <a:buNone/>
              <a:defRPr sz="826"/>
            </a:lvl5pPr>
            <a:lvl6pPr marL="1889150" indent="0">
              <a:buNone/>
              <a:defRPr sz="826"/>
            </a:lvl6pPr>
            <a:lvl7pPr marL="2266980" indent="0">
              <a:buNone/>
              <a:defRPr sz="826"/>
            </a:lvl7pPr>
            <a:lvl8pPr marL="2644811" indent="0">
              <a:buNone/>
              <a:defRPr sz="826"/>
            </a:lvl8pPr>
            <a:lvl9pPr marL="3022641" indent="0">
              <a:buNone/>
              <a:defRPr sz="8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829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350" y="950525"/>
            <a:ext cx="5765768" cy="4666713"/>
          </a:xfrm>
        </p:spPr>
        <p:txBody>
          <a:bodyPr anchor="ctr"/>
          <a:lstStyle>
            <a:lvl1pPr>
              <a:defRPr sz="26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66442" y="5628976"/>
            <a:ext cx="5424602" cy="665511"/>
          </a:xfrm>
        </p:spPr>
        <p:txBody>
          <a:bodyPr anchor="t">
            <a:normAutofit/>
          </a:bodyPr>
          <a:lstStyle>
            <a:lvl1pPr marL="0" indent="0" algn="r">
              <a:buNone/>
              <a:defRPr sz="1157"/>
            </a:lvl1pPr>
            <a:lvl2pPr marL="377830" indent="0">
              <a:buNone/>
              <a:defRPr sz="1157"/>
            </a:lvl2pPr>
            <a:lvl3pPr marL="755660" indent="0">
              <a:buNone/>
              <a:defRPr sz="992"/>
            </a:lvl3pPr>
            <a:lvl4pPr marL="1133490" indent="0">
              <a:buNone/>
              <a:defRPr sz="826"/>
            </a:lvl4pPr>
            <a:lvl5pPr marL="1511320" indent="0">
              <a:buNone/>
              <a:defRPr sz="826"/>
            </a:lvl5pPr>
            <a:lvl6pPr marL="1889150" indent="0">
              <a:buNone/>
              <a:defRPr sz="826"/>
            </a:lvl6pPr>
            <a:lvl7pPr marL="2266980" indent="0">
              <a:buNone/>
              <a:defRPr sz="826"/>
            </a:lvl7pPr>
            <a:lvl8pPr marL="2644811" indent="0">
              <a:buNone/>
              <a:defRPr sz="826"/>
            </a:lvl8pPr>
            <a:lvl9pPr marL="3022641" indent="0">
              <a:buNone/>
              <a:defRPr sz="8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361" y="6556406"/>
            <a:ext cx="6417176" cy="247357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157"/>
            </a:lvl2pPr>
            <a:lvl3pPr marL="755660" indent="0">
              <a:buNone/>
              <a:defRPr sz="992"/>
            </a:lvl3pPr>
            <a:lvl4pPr marL="1133490" indent="0">
              <a:buNone/>
              <a:defRPr sz="826"/>
            </a:lvl4pPr>
            <a:lvl5pPr marL="1511320" indent="0">
              <a:buNone/>
              <a:defRPr sz="826"/>
            </a:lvl5pPr>
            <a:lvl6pPr marL="1889150" indent="0">
              <a:buNone/>
              <a:defRPr sz="826"/>
            </a:lvl6pPr>
            <a:lvl7pPr marL="2266980" indent="0">
              <a:buNone/>
              <a:defRPr sz="826"/>
            </a:lvl7pPr>
            <a:lvl8pPr marL="2644811" indent="0">
              <a:buNone/>
              <a:defRPr sz="826"/>
            </a:lvl8pPr>
            <a:lvl9pPr marL="3022641" indent="0">
              <a:buNone/>
              <a:defRPr sz="8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417529" y="1000653"/>
            <a:ext cx="377825" cy="911817"/>
          </a:xfrm>
          <a:prstGeom prst="rect">
            <a:avLst/>
          </a:prstGeom>
        </p:spPr>
        <p:txBody>
          <a:bodyPr vert="horz" lIns="75565" tIns="37783" rIns="75565" bIns="37783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611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7082" y="4792190"/>
            <a:ext cx="377825" cy="911817"/>
          </a:xfrm>
          <a:prstGeom prst="rect">
            <a:avLst/>
          </a:prstGeom>
        </p:spPr>
        <p:txBody>
          <a:bodyPr vert="horz" lIns="75565" tIns="37783" rIns="75565" bIns="37783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611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2604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370" y="3316456"/>
            <a:ext cx="6418145" cy="3916602"/>
          </a:xfrm>
        </p:spPr>
        <p:txBody>
          <a:bodyPr anchor="b"/>
          <a:lstStyle>
            <a:lvl1pPr>
              <a:defRPr sz="26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362" y="7251422"/>
            <a:ext cx="6417176" cy="1778560"/>
          </a:xfrm>
        </p:spPr>
        <p:txBody>
          <a:bodyPr anchor="t"/>
          <a:lstStyle>
            <a:lvl1pPr marL="0" indent="0" algn="ctr">
              <a:buNone/>
              <a:defRPr sz="1322"/>
            </a:lvl1pPr>
            <a:lvl2pPr marL="377830" indent="0">
              <a:buNone/>
              <a:defRPr sz="1157"/>
            </a:lvl2pPr>
            <a:lvl3pPr marL="755660" indent="0">
              <a:buNone/>
              <a:defRPr sz="992"/>
            </a:lvl3pPr>
            <a:lvl4pPr marL="1133490" indent="0">
              <a:buNone/>
              <a:defRPr sz="826"/>
            </a:lvl4pPr>
            <a:lvl5pPr marL="1511320" indent="0">
              <a:buNone/>
              <a:defRPr sz="826"/>
            </a:lvl5pPr>
            <a:lvl6pPr marL="1889150" indent="0">
              <a:buNone/>
              <a:defRPr sz="826"/>
            </a:lvl6pPr>
            <a:lvl7pPr marL="2266980" indent="0">
              <a:buNone/>
              <a:defRPr sz="826"/>
            </a:lvl7pPr>
            <a:lvl8pPr marL="2644811" indent="0">
              <a:buNone/>
              <a:defRPr sz="826"/>
            </a:lvl8pPr>
            <a:lvl9pPr marL="3022641" indent="0">
              <a:buNone/>
              <a:defRPr sz="8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5237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66361" y="950527"/>
            <a:ext cx="6417176" cy="2066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66363" y="3256233"/>
            <a:ext cx="2044665" cy="128374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983" b="0">
                <a:solidFill>
                  <a:schemeClr val="tx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66363" y="4539976"/>
            <a:ext cx="2044665" cy="4490006"/>
          </a:xfrm>
        </p:spPr>
        <p:txBody>
          <a:bodyPr anchor="t">
            <a:normAutofit/>
          </a:bodyPr>
          <a:lstStyle>
            <a:lvl1pPr marL="0" indent="0" algn="ctr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54898" y="3256232"/>
            <a:ext cx="2044419" cy="128374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983" b="0">
                <a:solidFill>
                  <a:schemeClr val="tx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754899" y="4539976"/>
            <a:ext cx="2045202" cy="4490006"/>
          </a:xfrm>
        </p:spPr>
        <p:txBody>
          <a:bodyPr anchor="t">
            <a:normAutofit/>
          </a:bodyPr>
          <a:lstStyle>
            <a:lvl1pPr marL="0" indent="0" algn="ctr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941784" y="3256232"/>
            <a:ext cx="2039865" cy="128374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983" b="0">
                <a:solidFill>
                  <a:schemeClr val="tx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4943673" y="4539976"/>
            <a:ext cx="2039865" cy="4490006"/>
          </a:xfrm>
        </p:spPr>
        <p:txBody>
          <a:bodyPr anchor="t">
            <a:normAutofit/>
          </a:bodyPr>
          <a:lstStyle>
            <a:lvl1pPr marL="0" indent="0" algn="ctr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979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66362" y="950527"/>
            <a:ext cx="6417176" cy="2066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66363" y="6220114"/>
            <a:ext cx="2044665" cy="89854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653" b="0">
                <a:solidFill>
                  <a:schemeClr val="tx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76825" y="3262337"/>
            <a:ext cx="1822219" cy="2376311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66363" y="7118656"/>
            <a:ext cx="2044665" cy="1911328"/>
          </a:xfrm>
        </p:spPr>
        <p:txBody>
          <a:bodyPr anchor="t">
            <a:normAutofit/>
          </a:bodyPr>
          <a:lstStyle>
            <a:lvl1pPr marL="0" indent="0" algn="ctr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53550" y="6220114"/>
            <a:ext cx="2044682" cy="89854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653" b="0">
                <a:solidFill>
                  <a:schemeClr val="tx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31826" y="3262337"/>
            <a:ext cx="1816315" cy="2376311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752710" y="7118654"/>
            <a:ext cx="2045521" cy="1911328"/>
          </a:xfrm>
        </p:spPr>
        <p:txBody>
          <a:bodyPr anchor="t">
            <a:normAutofit/>
          </a:bodyPr>
          <a:lstStyle>
            <a:lvl1pPr marL="0" indent="0" algn="ctr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941861" y="6220114"/>
            <a:ext cx="2039053" cy="89854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653" b="0">
                <a:solidFill>
                  <a:schemeClr val="tx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053041" y="3262337"/>
            <a:ext cx="1817299" cy="2376311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4941783" y="7118658"/>
            <a:ext cx="2041754" cy="1911324"/>
          </a:xfrm>
        </p:spPr>
        <p:txBody>
          <a:bodyPr anchor="t">
            <a:normAutofit/>
          </a:bodyPr>
          <a:lstStyle>
            <a:lvl1pPr marL="0" indent="0" algn="ctr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6222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457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7621" y="950525"/>
            <a:ext cx="1575918" cy="807945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363" y="950525"/>
            <a:ext cx="4746802" cy="80794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175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6364" y="950527"/>
            <a:ext cx="6417175" cy="20680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362" y="3268307"/>
            <a:ext cx="6417176" cy="5761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59216" y="9173553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6363" y="9173553"/>
            <a:ext cx="4135786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16497" y="9173553"/>
            <a:ext cx="467041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874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  <p:sldLayoutId id="2147483994" r:id="rId17"/>
  </p:sldLayoutIdLst>
  <p:txStyles>
    <p:titleStyle>
      <a:lvl1pPr algn="ctr" defTabSz="755660" rtl="0" eaLnBrk="1" latinLnBrk="0" hangingPunct="1">
        <a:lnSpc>
          <a:spcPct val="90000"/>
        </a:lnSpc>
        <a:spcBef>
          <a:spcPct val="0"/>
        </a:spcBef>
        <a:buNone/>
        <a:defRPr sz="281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188915" indent="-188915" algn="l" defTabSz="755660" rtl="0" eaLnBrk="1" latinLnBrk="0" hangingPunct="1">
        <a:lnSpc>
          <a:spcPct val="120000"/>
        </a:lnSpc>
        <a:spcBef>
          <a:spcPts val="826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566745" indent="-188915" algn="l" defTabSz="755660" rtl="0" eaLnBrk="1" latinLnBrk="0" hangingPunct="1">
        <a:lnSpc>
          <a:spcPct val="12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944575" indent="-188915" algn="l" defTabSz="755660" rtl="0" eaLnBrk="1" latinLnBrk="0" hangingPunct="1">
        <a:lnSpc>
          <a:spcPct val="120000"/>
        </a:lnSpc>
        <a:spcBef>
          <a:spcPts val="413"/>
        </a:spcBef>
        <a:buFont typeface="Arial" panose="020B0604020202020204" pitchFamily="34" charset="0"/>
        <a:buChar char="•"/>
        <a:defRPr sz="1322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322405" indent="-188915" algn="l" defTabSz="755660" rtl="0" eaLnBrk="1" latinLnBrk="0" hangingPunct="1">
        <a:lnSpc>
          <a:spcPct val="120000"/>
        </a:lnSpc>
        <a:spcBef>
          <a:spcPts val="413"/>
        </a:spcBef>
        <a:buFont typeface="Arial" panose="020B0604020202020204" pitchFamily="34" charset="0"/>
        <a:buChar char="•"/>
        <a:defRPr sz="1157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1700235" indent="-188915" algn="l" defTabSz="755660" rtl="0" eaLnBrk="1" latinLnBrk="0" hangingPunct="1">
        <a:lnSpc>
          <a:spcPct val="120000"/>
        </a:lnSpc>
        <a:spcBef>
          <a:spcPts val="413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078065" indent="-188915" algn="l" defTabSz="755660" rtl="0" eaLnBrk="1" latinLnBrk="0" hangingPunct="1">
        <a:lnSpc>
          <a:spcPct val="120000"/>
        </a:lnSpc>
        <a:spcBef>
          <a:spcPts val="413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455896" indent="-188915" algn="l" defTabSz="755660" rtl="0" eaLnBrk="1" latinLnBrk="0" hangingPunct="1">
        <a:lnSpc>
          <a:spcPct val="120000"/>
        </a:lnSpc>
        <a:spcBef>
          <a:spcPts val="413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2833726" indent="-188915" algn="l" defTabSz="755660" rtl="0" eaLnBrk="1" latinLnBrk="0" hangingPunct="1">
        <a:lnSpc>
          <a:spcPct val="120000"/>
        </a:lnSpc>
        <a:spcBef>
          <a:spcPts val="413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211556" indent="-188915" algn="l" defTabSz="755660" rtl="0" eaLnBrk="1" latinLnBrk="0" hangingPunct="1">
        <a:lnSpc>
          <a:spcPct val="120000"/>
        </a:lnSpc>
        <a:spcBef>
          <a:spcPts val="413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66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830" algn="l" defTabSz="75566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660" algn="l" defTabSz="75566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490" algn="l" defTabSz="75566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320" algn="l" defTabSz="75566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150" algn="l" defTabSz="75566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6980" algn="l" defTabSz="75566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4811" algn="l" defTabSz="75566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2641" algn="l" defTabSz="75566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atalog.data.gov/dataset/public-libraries-b1aaf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umariroshani-890/INT234ProjectPublicLibraries" TargetMode="External"/><Relationship Id="rId2" Type="http://schemas.openxmlformats.org/officeDocument/2006/relationships/hyperlink" Target="https://www.linkedin.com/feed/update/urn:li:activity:7408191780632072192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94490" y="334719"/>
            <a:ext cx="2936875" cy="861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42644" marR="5080" indent="-709295">
              <a:lnSpc>
                <a:spcPct val="144800"/>
              </a:lnSpc>
              <a:spcBef>
                <a:spcPts val="95"/>
              </a:spcBef>
            </a:pPr>
            <a:r>
              <a:rPr sz="1350" b="1" dirty="0">
                <a:latin typeface="Times New Roman"/>
                <a:cs typeface="Times New Roman"/>
              </a:rPr>
              <a:t>INT234-</a:t>
            </a:r>
            <a:r>
              <a:rPr sz="1350" b="1" spc="20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PREDICTIVE</a:t>
            </a:r>
            <a:r>
              <a:rPr sz="1350" b="1" spc="-50" dirty="0">
                <a:latin typeface="Times New Roman"/>
                <a:cs typeface="Times New Roman"/>
              </a:rPr>
              <a:t> </a:t>
            </a:r>
            <a:r>
              <a:rPr sz="1350" b="1" spc="-10" dirty="0">
                <a:latin typeface="Times New Roman"/>
                <a:cs typeface="Times New Roman"/>
              </a:rPr>
              <a:t>ANALYTICS </a:t>
            </a:r>
            <a:r>
              <a:rPr sz="1350" b="1" dirty="0">
                <a:latin typeface="Times New Roman"/>
                <a:cs typeface="Times New Roman"/>
              </a:rPr>
              <a:t>PROJECT</a:t>
            </a:r>
            <a:r>
              <a:rPr sz="1350" b="1" spc="5" dirty="0">
                <a:latin typeface="Times New Roman"/>
                <a:cs typeface="Times New Roman"/>
              </a:rPr>
              <a:t> </a:t>
            </a:r>
            <a:r>
              <a:rPr sz="1350" b="1" spc="-10" dirty="0">
                <a:latin typeface="Times New Roman"/>
                <a:cs typeface="Times New Roman"/>
              </a:rPr>
              <a:t>REPORT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150" dirty="0">
                <a:latin typeface="Times New Roman"/>
                <a:cs typeface="Times New Roman"/>
              </a:rPr>
              <a:t>(Project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Semester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September-</a:t>
            </a:r>
            <a:r>
              <a:rPr sz="1150" dirty="0">
                <a:latin typeface="Times New Roman"/>
                <a:cs typeface="Times New Roman"/>
              </a:rPr>
              <a:t>December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2025)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50069" y="2124828"/>
            <a:ext cx="1451610" cy="2313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b="1" spc="-10" dirty="0">
                <a:latin typeface="Times New Roman"/>
                <a:cs typeface="Times New Roman"/>
              </a:rPr>
              <a:t>Public_Libraries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14"/>
              </a:spcBef>
            </a:pPr>
            <a:endParaRPr sz="1550">
              <a:latin typeface="Times New Roman"/>
              <a:cs typeface="Times New Roman"/>
            </a:endParaRPr>
          </a:p>
          <a:p>
            <a:pPr marL="96520" algn="ctr">
              <a:lnSpc>
                <a:spcPct val="100000"/>
              </a:lnSpc>
              <a:spcBef>
                <a:spcPts val="5"/>
              </a:spcBef>
            </a:pPr>
            <a:r>
              <a:rPr sz="1150" b="1" dirty="0">
                <a:latin typeface="Times New Roman"/>
                <a:cs typeface="Times New Roman"/>
              </a:rPr>
              <a:t>Submitted</a:t>
            </a:r>
            <a:r>
              <a:rPr sz="1150" b="1" spc="30" dirty="0">
                <a:latin typeface="Times New Roman"/>
                <a:cs typeface="Times New Roman"/>
              </a:rPr>
              <a:t> </a:t>
            </a:r>
            <a:r>
              <a:rPr sz="1150" b="1" spc="-35" dirty="0">
                <a:latin typeface="Times New Roman"/>
                <a:cs typeface="Times New Roman"/>
              </a:rPr>
              <a:t>by</a:t>
            </a:r>
            <a:endParaRPr sz="1150">
              <a:latin typeface="Times New Roman"/>
              <a:cs typeface="Times New Roman"/>
            </a:endParaRPr>
          </a:p>
          <a:p>
            <a:pPr marL="81915" algn="ctr">
              <a:lnSpc>
                <a:spcPct val="100000"/>
              </a:lnSpc>
              <a:spcBef>
                <a:spcPts val="595"/>
              </a:spcBef>
            </a:pPr>
            <a:r>
              <a:rPr sz="1150" dirty="0">
                <a:latin typeface="Times New Roman"/>
                <a:cs typeface="Times New Roman"/>
              </a:rPr>
              <a:t>Roshani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Kumari</a:t>
            </a:r>
            <a:endParaRPr sz="1150">
              <a:latin typeface="Times New Roman"/>
              <a:cs typeface="Times New Roman"/>
            </a:endParaRPr>
          </a:p>
          <a:p>
            <a:pPr marL="311785" marR="180340" algn="ctr">
              <a:lnSpc>
                <a:spcPct val="143800"/>
              </a:lnSpc>
              <a:spcBef>
                <a:spcPts val="665"/>
              </a:spcBef>
            </a:pPr>
            <a:r>
              <a:rPr sz="1150" dirty="0">
                <a:latin typeface="Times New Roman"/>
                <a:cs typeface="Times New Roman"/>
              </a:rPr>
              <a:t>Registration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no: </a:t>
            </a:r>
            <a:r>
              <a:rPr sz="1150" spc="-10" dirty="0">
                <a:latin typeface="Times New Roman"/>
                <a:cs typeface="Times New Roman"/>
              </a:rPr>
              <a:t>12307183</a:t>
            </a:r>
            <a:endParaRPr sz="1150">
              <a:latin typeface="Times New Roman"/>
              <a:cs typeface="Times New Roman"/>
            </a:endParaRPr>
          </a:p>
          <a:p>
            <a:pPr marL="117475" marR="8890" indent="-11430" algn="ctr">
              <a:lnSpc>
                <a:spcPct val="143800"/>
              </a:lnSpc>
              <a:spcBef>
                <a:spcPts val="685"/>
              </a:spcBef>
            </a:pPr>
            <a:r>
              <a:rPr sz="1150" dirty="0">
                <a:latin typeface="Times New Roman"/>
                <a:cs typeface="Times New Roman"/>
              </a:rPr>
              <a:t>Section: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K23CG </a:t>
            </a:r>
            <a:r>
              <a:rPr sz="1150" dirty="0">
                <a:latin typeface="Times New Roman"/>
                <a:cs typeface="Times New Roman"/>
              </a:rPr>
              <a:t>Course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Code: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INT234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98981" y="4974166"/>
            <a:ext cx="1467485" cy="7727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ctr">
              <a:lnSpc>
                <a:spcPct val="142500"/>
              </a:lnSpc>
              <a:spcBef>
                <a:spcPts val="80"/>
              </a:spcBef>
            </a:pPr>
            <a:r>
              <a:rPr sz="1150" b="1" dirty="0">
                <a:latin typeface="Times New Roman"/>
                <a:cs typeface="Times New Roman"/>
              </a:rPr>
              <a:t>Under the</a:t>
            </a:r>
            <a:r>
              <a:rPr sz="1150" b="1" spc="2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Guidance</a:t>
            </a:r>
            <a:r>
              <a:rPr sz="1150" b="1" spc="15" dirty="0">
                <a:latin typeface="Times New Roman"/>
                <a:cs typeface="Times New Roman"/>
              </a:rPr>
              <a:t> </a:t>
            </a:r>
            <a:r>
              <a:rPr sz="1150" b="1" spc="-25" dirty="0">
                <a:latin typeface="Times New Roman"/>
                <a:cs typeface="Times New Roman"/>
              </a:rPr>
              <a:t>of </a:t>
            </a:r>
            <a:r>
              <a:rPr sz="1150" dirty="0">
                <a:latin typeface="Times New Roman"/>
                <a:cs typeface="Times New Roman"/>
              </a:rPr>
              <a:t>Anchal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Kaundal, (29612)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1938" y="6606030"/>
            <a:ext cx="3073400" cy="12693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14"/>
              </a:spcBef>
            </a:pPr>
            <a:r>
              <a:rPr sz="1150" b="1" dirty="0">
                <a:latin typeface="Times New Roman"/>
                <a:cs typeface="Times New Roman"/>
              </a:rPr>
              <a:t>Discipline</a:t>
            </a:r>
            <a:r>
              <a:rPr sz="1150" b="1" spc="1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of</a:t>
            </a:r>
            <a:r>
              <a:rPr sz="1150" b="1" spc="20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CSE/IT</a:t>
            </a:r>
            <a:endParaRPr sz="1150">
              <a:latin typeface="Times New Roman"/>
              <a:cs typeface="Times New Roman"/>
            </a:endParaRPr>
          </a:p>
          <a:p>
            <a:pPr marL="12065" marR="5080" algn="ctr">
              <a:lnSpc>
                <a:spcPct val="293500"/>
              </a:lnSpc>
              <a:spcBef>
                <a:spcPts val="295"/>
              </a:spcBef>
            </a:pPr>
            <a:r>
              <a:rPr sz="1150" b="1" dirty="0">
                <a:latin typeface="Times New Roman"/>
                <a:cs typeface="Times New Roman"/>
              </a:rPr>
              <a:t>Lovely</a:t>
            </a:r>
            <a:r>
              <a:rPr sz="1150" b="1" spc="2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School</a:t>
            </a:r>
            <a:r>
              <a:rPr sz="1150" b="1" spc="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of</a:t>
            </a:r>
            <a:r>
              <a:rPr sz="1150" b="1" spc="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Computer</a:t>
            </a:r>
            <a:r>
              <a:rPr sz="1150" b="1" spc="1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Science</a:t>
            </a:r>
            <a:r>
              <a:rPr sz="1150" b="1" spc="20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Engineering </a:t>
            </a:r>
            <a:r>
              <a:rPr sz="1150" b="1" dirty="0">
                <a:latin typeface="Times New Roman"/>
                <a:cs typeface="Times New Roman"/>
              </a:rPr>
              <a:t>Lovely</a:t>
            </a:r>
            <a:r>
              <a:rPr sz="1150" b="1" spc="-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Professional</a:t>
            </a:r>
            <a:r>
              <a:rPr sz="1150" b="1" spc="-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University,</a:t>
            </a:r>
            <a:r>
              <a:rPr sz="1150" b="1" spc="-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Phagwara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72394" y="795080"/>
            <a:ext cx="1126490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DECLARATION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6932" y="1515658"/>
            <a:ext cx="5713095" cy="12264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5080" indent="-6350" algn="just">
              <a:lnSpc>
                <a:spcPct val="145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I,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Roshani</a:t>
            </a:r>
            <a:r>
              <a:rPr sz="1400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Kumari</a:t>
            </a:r>
            <a:r>
              <a:rPr sz="1400" dirty="0">
                <a:latin typeface="Times New Roman"/>
                <a:cs typeface="Times New Roman"/>
              </a:rPr>
              <a:t>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student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B.tech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under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CSE/IT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Discipline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at,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Lovely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Professional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University, </a:t>
            </a:r>
            <a:r>
              <a:rPr sz="1400" dirty="0">
                <a:latin typeface="Times New Roman"/>
                <a:cs typeface="Times New Roman"/>
              </a:rPr>
              <a:t>Punjab,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hereby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declare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information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furnished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project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report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based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my </a:t>
            </a:r>
            <a:r>
              <a:rPr sz="1400" dirty="0">
                <a:latin typeface="Times New Roman"/>
                <a:cs typeface="Times New Roman"/>
              </a:rPr>
              <a:t>own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intensive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work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genuine.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1532" y="3302037"/>
            <a:ext cx="1669414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150" dirty="0">
                <a:latin typeface="Times New Roman"/>
                <a:cs typeface="Times New Roman"/>
              </a:rPr>
              <a:t>Date: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18</a:t>
            </a:r>
            <a:r>
              <a:rPr sz="1125" baseline="33333" dirty="0">
                <a:latin typeface="Times New Roman"/>
                <a:cs typeface="Times New Roman"/>
              </a:rPr>
              <a:t>th</a:t>
            </a:r>
            <a:r>
              <a:rPr sz="1125" spc="150" baseline="33333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December,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2025</a:t>
            </a:r>
            <a:endParaRPr sz="11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3791" y="3302037"/>
            <a:ext cx="593725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10" dirty="0">
                <a:latin typeface="Times New Roman"/>
                <a:cs typeface="Times New Roman"/>
              </a:rPr>
              <a:t>Signature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6932" y="3708151"/>
            <a:ext cx="1598295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dirty="0">
                <a:latin typeface="Times New Roman"/>
                <a:cs typeface="Times New Roman"/>
              </a:rPr>
              <a:t>Registration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No.12307183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63791" y="3708151"/>
            <a:ext cx="1000760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dirty="0">
                <a:latin typeface="Times New Roman"/>
                <a:cs typeface="Times New Roman"/>
              </a:rPr>
              <a:t>Roshani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Kumari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3056" y="426020"/>
            <a:ext cx="6882130" cy="97699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469900" algn="ctr">
              <a:lnSpc>
                <a:spcPct val="100000"/>
              </a:lnSpc>
              <a:spcBef>
                <a:spcPts val="114"/>
              </a:spcBef>
            </a:pPr>
            <a:r>
              <a:rPr sz="1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CERTIFICATE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150" dirty="0">
              <a:latin typeface="Times New Roman"/>
              <a:cs typeface="Times New Roman"/>
            </a:endParaRPr>
          </a:p>
          <a:p>
            <a:pPr marL="18415" marR="5080" indent="-6350">
              <a:lnSpc>
                <a:spcPts val="1310"/>
              </a:lnSpc>
            </a:pP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certify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Roshani</a:t>
            </a:r>
            <a:r>
              <a:rPr sz="1400" b="1" spc="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Kumari</a:t>
            </a:r>
            <a:r>
              <a:rPr sz="1400" b="1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bearing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Registration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no.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12307183</a:t>
            </a:r>
            <a:r>
              <a:rPr sz="1400" b="1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completed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INT234</a:t>
            </a:r>
            <a:r>
              <a:rPr sz="1400" b="1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project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titled, </a:t>
            </a:r>
            <a:r>
              <a:rPr sz="1400" b="1" dirty="0">
                <a:latin typeface="Times New Roman"/>
                <a:cs typeface="Times New Roman"/>
              </a:rPr>
              <a:t>“Public_Libraries”</a:t>
            </a:r>
            <a:r>
              <a:rPr sz="1400" b="1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under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my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guidance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supervision.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To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best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my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knowledge,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present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work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result </a:t>
            </a:r>
            <a:r>
              <a:rPr sz="1400" dirty="0">
                <a:latin typeface="Times New Roman"/>
                <a:cs typeface="Times New Roman"/>
              </a:rPr>
              <a:t>of his/her original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development,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effort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study.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8832" y="2010702"/>
            <a:ext cx="2658745" cy="21746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1557020">
              <a:lnSpc>
                <a:spcPct val="146300"/>
              </a:lnSpc>
              <a:spcBef>
                <a:spcPts val="95"/>
              </a:spcBef>
            </a:pPr>
            <a:r>
              <a:rPr sz="1200" b="1" dirty="0">
                <a:latin typeface="Times New Roman"/>
                <a:cs typeface="Times New Roman"/>
              </a:rPr>
              <a:t>Anchal</a:t>
            </a:r>
            <a:r>
              <a:rPr sz="1200" b="1" spc="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Kaundal Professor</a:t>
            </a:r>
            <a:endParaRPr sz="1200" dirty="0">
              <a:latin typeface="Times New Roman"/>
              <a:cs typeface="Times New Roman"/>
            </a:endParaRPr>
          </a:p>
          <a:p>
            <a:pPr marL="50800" marR="17780">
              <a:lnSpc>
                <a:spcPct val="142200"/>
              </a:lnSpc>
              <a:spcBef>
                <a:spcPts val="35"/>
              </a:spcBef>
            </a:pPr>
            <a:r>
              <a:rPr sz="1200" b="1" dirty="0">
                <a:latin typeface="Times New Roman"/>
                <a:cs typeface="Times New Roman"/>
              </a:rPr>
              <a:t>School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Computer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Science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Engineering </a:t>
            </a:r>
            <a:r>
              <a:rPr sz="1200" dirty="0">
                <a:latin typeface="Times New Roman"/>
                <a:cs typeface="Times New Roman"/>
              </a:rPr>
              <a:t>Lovely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Professional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University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Phagwara, Punjab.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Date: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18</a:t>
            </a:r>
            <a:r>
              <a:rPr sz="1200" baseline="33333" dirty="0">
                <a:latin typeface="Times New Roman"/>
                <a:cs typeface="Times New Roman"/>
              </a:rPr>
              <a:t>th</a:t>
            </a:r>
            <a:r>
              <a:rPr sz="1200" spc="150" baseline="33333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December,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2025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1986" y="424538"/>
            <a:ext cx="6620509" cy="45970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37515" algn="ctr">
              <a:lnSpc>
                <a:spcPct val="100000"/>
              </a:lnSpc>
              <a:spcBef>
                <a:spcPts val="100"/>
              </a:spcBef>
            </a:pP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Acknowledgment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8415" marR="53340" indent="-6350" algn="just">
              <a:lnSpc>
                <a:spcPct val="144600"/>
              </a:lnSpc>
            </a:pPr>
            <a:r>
              <a:rPr sz="1400" dirty="0">
                <a:latin typeface="Times New Roman"/>
                <a:cs typeface="Times New Roman"/>
              </a:rPr>
              <a:t>I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would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like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express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my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deepest</a:t>
            </a:r>
            <a:r>
              <a:rPr sz="1400" spc="1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gratitude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Prof.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Anchal</a:t>
            </a:r>
            <a:r>
              <a:rPr sz="1400" spc="1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Kaundal,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his</a:t>
            </a:r>
            <a:r>
              <a:rPr sz="1400" spc="1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exceptional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mentorship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unwavering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support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throughout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duration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project.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His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vast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knowledge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fields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science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machine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learning,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combined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his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patient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thoughtful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guidance,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played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pivotal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role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successful </a:t>
            </a:r>
            <a:r>
              <a:rPr sz="1400" dirty="0">
                <a:latin typeface="Times New Roman"/>
                <a:cs typeface="Times New Roman"/>
              </a:rPr>
              <a:t>completion of this work.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His insightful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suggestions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 feedback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consistently challenged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 think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critically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improve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quality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my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research.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am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also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grateful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learning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environment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fostered,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which </a:t>
            </a:r>
            <a:r>
              <a:rPr sz="1400" dirty="0">
                <a:latin typeface="Times New Roman"/>
                <a:cs typeface="Times New Roman"/>
              </a:rPr>
              <a:t>encouraged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exploration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innovation.</a:t>
            </a:r>
            <a:endParaRPr sz="1400" dirty="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44900"/>
              </a:lnSpc>
              <a:spcBef>
                <a:spcPts val="65"/>
              </a:spcBef>
            </a:pP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addition,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sincerely</a:t>
            </a:r>
            <a:r>
              <a:rPr sz="1400" spc="2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thank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my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peers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classmates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their</a:t>
            </a:r>
            <a:r>
              <a:rPr sz="1400" spc="2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helpful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discussions,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encouragement,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collaborative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spirit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during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project.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Their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input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provided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fresh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perspectives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contributed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meaningfully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to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final</a:t>
            </a:r>
            <a:r>
              <a:rPr sz="1400" spc="1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outcome.</a:t>
            </a:r>
            <a:r>
              <a:rPr sz="1400" spc="1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am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also</a:t>
            </a:r>
            <a:r>
              <a:rPr sz="1400" spc="1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thankful</a:t>
            </a:r>
            <a:r>
              <a:rPr sz="1400" spc="1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8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open-</a:t>
            </a:r>
            <a:r>
              <a:rPr sz="1400" dirty="0">
                <a:latin typeface="Times New Roman"/>
                <a:cs typeface="Times New Roman"/>
              </a:rPr>
              <a:t>source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community</a:t>
            </a:r>
            <a:r>
              <a:rPr sz="1400" spc="1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1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providing</a:t>
            </a:r>
            <a:r>
              <a:rPr sz="1400" spc="1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tools,</a:t>
            </a:r>
            <a:r>
              <a:rPr sz="1400" spc="1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libraries,</a:t>
            </a:r>
            <a:r>
              <a:rPr sz="1400" spc="18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resources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made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implementation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project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possible.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Lastly,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acknowledge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dataset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contributors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making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analysis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feasible.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1949" y="380382"/>
            <a:ext cx="6819265" cy="3636252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450"/>
              </a:spcBef>
            </a:pPr>
            <a:r>
              <a:rPr sz="1600" b="1" dirty="0">
                <a:latin typeface="Times New Roman"/>
                <a:cs typeface="Times New Roman"/>
              </a:rPr>
              <a:t>1.</a:t>
            </a:r>
            <a:r>
              <a:rPr sz="1600" b="1" spc="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Introduction</a:t>
            </a:r>
            <a:endParaRPr lang="en-US" sz="1600" b="1" spc="-10" dirty="0">
              <a:latin typeface="Times New Roman"/>
              <a:cs typeface="Times New Roman"/>
            </a:endParaRPr>
          </a:p>
          <a:p>
            <a:pPr marL="314960">
              <a:lnSpc>
                <a:spcPct val="100000"/>
              </a:lnSpc>
              <a:spcBef>
                <a:spcPts val="450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8415" marR="27940" indent="-6350">
              <a:lnSpc>
                <a:spcPct val="100699"/>
              </a:lnSpc>
              <a:spcBef>
                <a:spcPts val="270"/>
              </a:spcBef>
            </a:pP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digital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age,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become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powerful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tool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uncovering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patterns,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shaping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policies,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improving </a:t>
            </a:r>
            <a:r>
              <a:rPr sz="1400" dirty="0">
                <a:latin typeface="Times New Roman"/>
                <a:cs typeface="Times New Roman"/>
              </a:rPr>
              <a:t>services—even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traditional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institutions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like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public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libraries.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project,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titled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"Public Library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Analytics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Using </a:t>
            </a:r>
            <a:r>
              <a:rPr sz="1400" dirty="0">
                <a:latin typeface="Times New Roman"/>
                <a:cs typeface="Times New Roman"/>
              </a:rPr>
              <a:t>Python,"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focuses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analyzing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public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library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explore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key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relationships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such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population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vs.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library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visits, </a:t>
            </a:r>
            <a:r>
              <a:rPr sz="1400" dirty="0">
                <a:latin typeface="Times New Roman"/>
                <a:cs typeface="Times New Roman"/>
              </a:rPr>
              <a:t>resource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allocation,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borrower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trends.</a:t>
            </a:r>
            <a:endParaRPr sz="1400" dirty="0">
              <a:latin typeface="Times New Roman"/>
              <a:cs typeface="Times New Roman"/>
            </a:endParaRPr>
          </a:p>
          <a:p>
            <a:pPr marL="18415" marR="77470" indent="-6350">
              <a:lnSpc>
                <a:spcPct val="100000"/>
              </a:lnSpc>
              <a:spcBef>
                <a:spcPts val="695"/>
              </a:spcBef>
            </a:pP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leveraging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Python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libraries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like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Pandas,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Matplotlib,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Seaborn,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study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extracts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meaningful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insights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from </a:t>
            </a:r>
            <a:r>
              <a:rPr sz="1400" spc="-10" dirty="0">
                <a:latin typeface="Times New Roman"/>
                <a:cs typeface="Times New Roman"/>
              </a:rPr>
              <a:t>real-</a:t>
            </a:r>
            <a:r>
              <a:rPr sz="1400" dirty="0">
                <a:latin typeface="Times New Roman"/>
                <a:cs typeface="Times New Roman"/>
              </a:rPr>
              <a:t>world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datasets.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goal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understand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how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public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libraries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serve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their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communities,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how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resources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are </a:t>
            </a:r>
            <a:r>
              <a:rPr sz="1400" dirty="0">
                <a:latin typeface="Times New Roman"/>
                <a:cs typeface="Times New Roman"/>
              </a:rPr>
              <a:t>distributed across different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regions, and what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factors influence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library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usage.</a:t>
            </a:r>
            <a:endParaRPr sz="1400" dirty="0">
              <a:latin typeface="Times New Roman"/>
              <a:cs typeface="Times New Roman"/>
            </a:endParaRPr>
          </a:p>
          <a:p>
            <a:pPr marL="18415" marR="5080" indent="-6350">
              <a:lnSpc>
                <a:spcPct val="100000"/>
              </a:lnSpc>
              <a:spcBef>
                <a:spcPts val="705"/>
              </a:spcBef>
            </a:pPr>
            <a:r>
              <a:rPr sz="1400" dirty="0">
                <a:latin typeface="Times New Roman"/>
                <a:cs typeface="Times New Roman"/>
              </a:rPr>
              <a:t>This analysis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not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only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highlights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disparities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public investment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access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but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also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reinforces the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role of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libraries </a:t>
            </a:r>
            <a:r>
              <a:rPr sz="1400" dirty="0">
                <a:latin typeface="Times New Roman"/>
                <a:cs typeface="Times New Roman"/>
              </a:rPr>
              <a:t>as vital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community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assets.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Through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visualization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interpretation,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project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aims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inform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better </a:t>
            </a:r>
            <a:r>
              <a:rPr sz="1400" dirty="0">
                <a:latin typeface="Times New Roman"/>
                <a:cs typeface="Times New Roman"/>
              </a:rPr>
              <a:t>decisionmaking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advocate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equitable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access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knowledge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resources.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8002" y="642416"/>
            <a:ext cx="6205220" cy="827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165" indent="-202565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304165" algn="l"/>
              </a:tabLst>
            </a:pPr>
            <a:r>
              <a:rPr sz="1550" b="1" dirty="0">
                <a:latin typeface="Times New Roman"/>
                <a:cs typeface="Times New Roman"/>
              </a:rPr>
              <a:t>Source</a:t>
            </a:r>
            <a:r>
              <a:rPr sz="1550" b="1" spc="-1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of</a:t>
            </a:r>
            <a:r>
              <a:rPr sz="1550" b="1" spc="-10" dirty="0">
                <a:latin typeface="Times New Roman"/>
                <a:cs typeface="Times New Roman"/>
              </a:rPr>
              <a:t> Dataset</a:t>
            </a:r>
            <a:endParaRPr sz="1550" dirty="0">
              <a:latin typeface="Times New Roman"/>
              <a:cs typeface="Times New Roman"/>
            </a:endParaRPr>
          </a:p>
          <a:p>
            <a:pPr marL="27305" marR="459105" indent="-6350">
              <a:lnSpc>
                <a:spcPct val="100000"/>
              </a:lnSpc>
              <a:spcBef>
                <a:spcPts val="1565"/>
              </a:spcBef>
            </a:pPr>
            <a:r>
              <a:rPr sz="1150" dirty="0">
                <a:latin typeface="Times New Roman"/>
                <a:cs typeface="Times New Roman"/>
              </a:rPr>
              <a:t>The dataset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this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project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was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sourced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from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Institute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Museum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Library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Services </a:t>
            </a:r>
            <a:r>
              <a:rPr sz="1150" dirty="0">
                <a:latin typeface="Times New Roman"/>
                <a:cs typeface="Times New Roman"/>
              </a:rPr>
              <a:t>(IMLS)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through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Data.gov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platform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—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U.S.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government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open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portal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that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provides </a:t>
            </a:r>
            <a:r>
              <a:rPr sz="1150" dirty="0">
                <a:latin typeface="Times New Roman"/>
                <a:cs typeface="Times New Roman"/>
              </a:rPr>
              <a:t>public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access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high-quality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datasets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across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various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domains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such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education,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public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services, </a:t>
            </a:r>
            <a:r>
              <a:rPr sz="1150" dirty="0">
                <a:latin typeface="Times New Roman"/>
                <a:cs typeface="Times New Roman"/>
              </a:rPr>
              <a:t>climate, and </a:t>
            </a:r>
            <a:r>
              <a:rPr sz="1150" spc="-20" dirty="0">
                <a:latin typeface="Times New Roman"/>
                <a:cs typeface="Times New Roman"/>
              </a:rPr>
              <a:t>more.</a:t>
            </a:r>
            <a:endParaRPr sz="1150" dirty="0">
              <a:latin typeface="Times New Roman"/>
              <a:cs typeface="Times New Roman"/>
            </a:endParaRPr>
          </a:p>
          <a:p>
            <a:pPr marL="27305" marR="498475" indent="-6350">
              <a:lnSpc>
                <a:spcPct val="100000"/>
              </a:lnSpc>
              <a:spcBef>
                <a:spcPts val="95"/>
              </a:spcBef>
            </a:pPr>
            <a:r>
              <a:rPr sz="1150" dirty="0">
                <a:latin typeface="Times New Roman"/>
                <a:cs typeface="Times New Roman"/>
              </a:rPr>
              <a:t>Specifically,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this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dataset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part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 the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Public Libraries</a:t>
            </a:r>
            <a:r>
              <a:rPr sz="1150" b="1" spc="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Survey</a:t>
            </a:r>
            <a:r>
              <a:rPr sz="1150" b="1" spc="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(PLS)</a:t>
            </a:r>
            <a:r>
              <a:rPr sz="1150" dirty="0">
                <a:latin typeface="Times New Roman"/>
                <a:cs typeface="Times New Roman"/>
              </a:rPr>
              <a:t>,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which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collects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and </a:t>
            </a:r>
            <a:r>
              <a:rPr sz="1150" dirty="0">
                <a:latin typeface="Times New Roman"/>
                <a:cs typeface="Times New Roman"/>
              </a:rPr>
              <a:t>reports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key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about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public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library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systems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 United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States.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It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includes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detailed </a:t>
            </a:r>
            <a:r>
              <a:rPr sz="1150" dirty="0">
                <a:latin typeface="Times New Roman"/>
                <a:cs typeface="Times New Roman"/>
              </a:rPr>
              <a:t>information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population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served,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total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visits,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registered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borrowers,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library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collections,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staffing,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operating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expenditures.</a:t>
            </a:r>
            <a:r>
              <a:rPr sz="1150" spc="26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About</a:t>
            </a:r>
            <a:r>
              <a:rPr sz="1150" b="1" spc="1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Data.gov:</a:t>
            </a:r>
            <a:endParaRPr sz="1150" dirty="0">
              <a:latin typeface="Times New Roman"/>
              <a:cs typeface="Times New Roman"/>
            </a:endParaRPr>
          </a:p>
          <a:p>
            <a:pPr marL="466090" lvl="1" indent="-222250">
              <a:lnSpc>
                <a:spcPct val="100000"/>
              </a:lnSpc>
              <a:spcBef>
                <a:spcPts val="90"/>
              </a:spcBef>
              <a:buSzPct val="82608"/>
              <a:buFont typeface="Arial MT"/>
              <a:buChar char="•"/>
              <a:tabLst>
                <a:tab pos="466090" algn="l"/>
              </a:tabLst>
            </a:pPr>
            <a:r>
              <a:rPr sz="1150" b="1" dirty="0">
                <a:latin typeface="Times New Roman"/>
                <a:cs typeface="Times New Roman"/>
              </a:rPr>
              <a:t>Managed</a:t>
            </a:r>
            <a:r>
              <a:rPr sz="1150" b="1" spc="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By:</a:t>
            </a:r>
            <a:r>
              <a:rPr sz="1150" b="1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U.S.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General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Services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Administration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(GSA)</a:t>
            </a:r>
            <a:endParaRPr sz="1150" dirty="0">
              <a:latin typeface="Times New Roman"/>
              <a:cs typeface="Times New Roman"/>
            </a:endParaRPr>
          </a:p>
          <a:p>
            <a:pPr marL="466090" marR="471805" lvl="1" indent="-222885">
              <a:lnSpc>
                <a:spcPct val="100000"/>
              </a:lnSpc>
              <a:spcBef>
                <a:spcPts val="80"/>
              </a:spcBef>
              <a:buSzPct val="82608"/>
              <a:buFont typeface="Arial MT"/>
              <a:buChar char="•"/>
              <a:tabLst>
                <a:tab pos="466090" algn="l"/>
              </a:tabLst>
            </a:pPr>
            <a:r>
              <a:rPr sz="1150" b="1" dirty="0">
                <a:latin typeface="Times New Roman"/>
                <a:cs typeface="Times New Roman"/>
              </a:rPr>
              <a:t>Goal:</a:t>
            </a:r>
            <a:r>
              <a:rPr sz="1150" b="1" spc="-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To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promote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transparency,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innovation,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data-driven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decision-making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by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making </a:t>
            </a:r>
            <a:r>
              <a:rPr sz="1150" dirty="0">
                <a:latin typeface="Times New Roman"/>
                <a:cs typeface="Times New Roman"/>
              </a:rPr>
              <a:t>government-collected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openly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accessible</a:t>
            </a:r>
            <a:endParaRPr sz="1150" dirty="0">
              <a:latin typeface="Times New Roman"/>
              <a:cs typeface="Times New Roman"/>
            </a:endParaRPr>
          </a:p>
          <a:p>
            <a:pPr marL="466090" lvl="1" indent="-222250">
              <a:lnSpc>
                <a:spcPct val="100000"/>
              </a:lnSpc>
              <a:spcBef>
                <a:spcPts val="80"/>
              </a:spcBef>
              <a:buSzPct val="82608"/>
              <a:buFont typeface="Arial MT"/>
              <a:buChar char="•"/>
              <a:tabLst>
                <a:tab pos="466090" algn="l"/>
              </a:tabLst>
            </a:pPr>
            <a:r>
              <a:rPr sz="1150" b="1" dirty="0">
                <a:latin typeface="Times New Roman"/>
                <a:cs typeface="Times New Roman"/>
              </a:rPr>
              <a:t>URL:</a:t>
            </a:r>
            <a:r>
              <a:rPr sz="1150" b="1" spc="195" dirty="0">
                <a:latin typeface="Times New Roman"/>
                <a:cs typeface="Times New Roman"/>
              </a:rPr>
              <a:t> </a:t>
            </a:r>
            <a:r>
              <a:rPr sz="115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https://catalog.data.gov/dataset/public-</a:t>
            </a:r>
            <a:r>
              <a:rPr sz="115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libraries-b1aaf</a:t>
            </a:r>
            <a:endParaRPr sz="1150" dirty="0">
              <a:latin typeface="Times New Roman"/>
              <a:cs typeface="Times New Roman"/>
            </a:endParaRPr>
          </a:p>
          <a:p>
            <a:pPr marL="466090" marR="265430" lvl="1" indent="-222885">
              <a:lnSpc>
                <a:spcPct val="100000"/>
              </a:lnSpc>
              <a:spcBef>
                <a:spcPts val="65"/>
              </a:spcBef>
              <a:buSzPct val="82608"/>
              <a:buFont typeface="Arial MT"/>
              <a:buChar char="•"/>
              <a:tabLst>
                <a:tab pos="466090" algn="l"/>
              </a:tabLst>
            </a:pPr>
            <a:r>
              <a:rPr sz="1150" b="1" dirty="0">
                <a:latin typeface="Times New Roman"/>
                <a:cs typeface="Times New Roman"/>
              </a:rPr>
              <a:t>Licensing:</a:t>
            </a:r>
            <a:r>
              <a:rPr sz="1150" b="1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Most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datasets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are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released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under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open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licenses,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allowing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public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research, </a:t>
            </a:r>
            <a:r>
              <a:rPr sz="1150" dirty="0">
                <a:latin typeface="Times New Roman"/>
                <a:cs typeface="Times New Roman"/>
              </a:rPr>
              <a:t>analysis,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innovation</a:t>
            </a:r>
            <a:endParaRPr sz="1150" dirty="0">
              <a:latin typeface="Times New Roman"/>
              <a:cs typeface="Times New Roman"/>
            </a:endParaRPr>
          </a:p>
          <a:p>
            <a:pPr marL="27305" marR="436880" indent="-6350">
              <a:lnSpc>
                <a:spcPct val="100000"/>
              </a:lnSpc>
              <a:spcBef>
                <a:spcPts val="90"/>
              </a:spcBef>
            </a:pPr>
            <a:r>
              <a:rPr sz="1150" dirty="0">
                <a:latin typeface="Times New Roman"/>
                <a:cs typeface="Times New Roman"/>
              </a:rPr>
              <a:t>Using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this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dataset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ensures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that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project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grounded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authentic,</a:t>
            </a:r>
            <a:r>
              <a:rPr sz="1150" b="1" spc="10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real-</a:t>
            </a:r>
            <a:r>
              <a:rPr sz="1150" b="1" dirty="0">
                <a:latin typeface="Times New Roman"/>
                <a:cs typeface="Times New Roman"/>
              </a:rPr>
              <a:t>world</a:t>
            </a:r>
            <a:r>
              <a:rPr sz="1150" b="1" spc="2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data</a:t>
            </a:r>
            <a:r>
              <a:rPr sz="1150" b="1" spc="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gathered </a:t>
            </a:r>
            <a:r>
              <a:rPr sz="1150" dirty="0">
                <a:latin typeface="Times New Roman"/>
                <a:cs typeface="Times New Roman"/>
              </a:rPr>
              <a:t>through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standardized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reporting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practices.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This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strengthens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credibility</a:t>
            </a:r>
            <a:r>
              <a:rPr sz="1150" b="1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insights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drawn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from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analysis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helps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support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data-</a:t>
            </a:r>
            <a:r>
              <a:rPr sz="1150" dirty="0">
                <a:latin typeface="Times New Roman"/>
                <a:cs typeface="Times New Roman"/>
              </a:rPr>
              <a:t>informed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improvements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public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library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policies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access.</a:t>
            </a:r>
            <a:endParaRPr sz="11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150" dirty="0">
              <a:latin typeface="Times New Roman"/>
              <a:cs typeface="Times New Roman"/>
            </a:endParaRPr>
          </a:p>
          <a:p>
            <a:pPr marL="219075" indent="-197485">
              <a:lnSpc>
                <a:spcPct val="100000"/>
              </a:lnSpc>
              <a:buFont typeface="Segoe UI Emoji"/>
              <a:buAutoNum type="arabicPeriod" startAt="3"/>
              <a:tabLst>
                <a:tab pos="219075" algn="l"/>
              </a:tabLst>
            </a:pPr>
            <a:r>
              <a:rPr sz="1550" b="1" spc="-20" dirty="0">
                <a:latin typeface="Times New Roman"/>
                <a:cs typeface="Times New Roman"/>
              </a:rPr>
              <a:t>EDA</a:t>
            </a:r>
            <a:r>
              <a:rPr sz="1550" b="1" spc="-65" dirty="0">
                <a:latin typeface="Times New Roman"/>
                <a:cs typeface="Times New Roman"/>
              </a:rPr>
              <a:t> </a:t>
            </a:r>
            <a:r>
              <a:rPr sz="1550" b="1" spc="-10" dirty="0">
                <a:latin typeface="Times New Roman"/>
                <a:cs typeface="Times New Roman"/>
              </a:rPr>
              <a:t>process</a:t>
            </a:r>
            <a:endParaRPr sz="1550" dirty="0">
              <a:latin typeface="Times New Roman"/>
              <a:cs typeface="Times New Roman"/>
            </a:endParaRPr>
          </a:p>
          <a:p>
            <a:pPr marL="27305" marR="394335" indent="-6350">
              <a:lnSpc>
                <a:spcPct val="100000"/>
              </a:lnSpc>
              <a:spcBef>
                <a:spcPts val="175"/>
              </a:spcBef>
            </a:pPr>
            <a:r>
              <a:rPr sz="1150" dirty="0">
                <a:latin typeface="Times New Roman"/>
                <a:cs typeface="Times New Roman"/>
              </a:rPr>
              <a:t>The EDA</a:t>
            </a:r>
            <a:r>
              <a:rPr sz="1150" spc="-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phase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was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crucial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understand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structure,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quality,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trends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Public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Libraries </a:t>
            </a:r>
            <a:r>
              <a:rPr sz="1150" dirty="0">
                <a:latin typeface="Times New Roman"/>
                <a:cs typeface="Times New Roman"/>
              </a:rPr>
              <a:t>dataset.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It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involved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several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steps:</a:t>
            </a:r>
            <a:endParaRPr sz="1150" dirty="0">
              <a:latin typeface="Times New Roman"/>
              <a:cs typeface="Times New Roman"/>
            </a:endParaRPr>
          </a:p>
          <a:p>
            <a:pPr marL="160020" indent="-147320">
              <a:lnSpc>
                <a:spcPct val="100000"/>
              </a:lnSpc>
              <a:spcBef>
                <a:spcPts val="75"/>
              </a:spcBef>
              <a:buAutoNum type="arabicPeriod"/>
              <a:tabLst>
                <a:tab pos="160020" algn="l"/>
              </a:tabLst>
            </a:pPr>
            <a:r>
              <a:rPr sz="1150" b="1" dirty="0">
                <a:latin typeface="Times New Roman"/>
                <a:cs typeface="Times New Roman"/>
              </a:rPr>
              <a:t>Data</a:t>
            </a:r>
            <a:r>
              <a:rPr sz="1150" b="1" spc="1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Inspection</a:t>
            </a:r>
            <a:r>
              <a:rPr sz="1150" b="1" spc="2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&amp;</a:t>
            </a:r>
            <a:r>
              <a:rPr sz="1150" b="1" spc="10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Loading</a:t>
            </a:r>
            <a:endParaRPr sz="1150" dirty="0">
              <a:latin typeface="Times New Roman"/>
              <a:cs typeface="Times New Roman"/>
            </a:endParaRPr>
          </a:p>
          <a:p>
            <a:pPr marL="466090" lvl="1" indent="-222250">
              <a:lnSpc>
                <a:spcPct val="100000"/>
              </a:lnSpc>
              <a:spcBef>
                <a:spcPts val="80"/>
              </a:spcBef>
              <a:buSzPct val="82608"/>
              <a:buFont typeface="Arial MT"/>
              <a:buChar char="•"/>
              <a:tabLst>
                <a:tab pos="466090" algn="l"/>
              </a:tabLst>
            </a:pPr>
            <a:r>
              <a:rPr sz="1150" dirty="0">
                <a:latin typeface="Times New Roman"/>
                <a:cs typeface="Times New Roman"/>
              </a:rPr>
              <a:t>Loaded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dataset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using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Pandas</a:t>
            </a:r>
            <a:endParaRPr sz="1150" dirty="0">
              <a:latin typeface="Times New Roman"/>
              <a:cs typeface="Times New Roman"/>
            </a:endParaRPr>
          </a:p>
          <a:p>
            <a:pPr marL="466090" lvl="1" indent="-222250">
              <a:lnSpc>
                <a:spcPct val="100000"/>
              </a:lnSpc>
              <a:spcBef>
                <a:spcPts val="70"/>
              </a:spcBef>
              <a:buSzPct val="82608"/>
              <a:buFont typeface="Arial MT"/>
              <a:buChar char="•"/>
              <a:tabLst>
                <a:tab pos="466090" algn="l"/>
              </a:tabLst>
            </a:pPr>
            <a:r>
              <a:rPr sz="1150" dirty="0">
                <a:latin typeface="Times New Roman"/>
                <a:cs typeface="Times New Roman"/>
              </a:rPr>
              <a:t>Displayed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first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few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rows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using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.head()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get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overview</a:t>
            </a:r>
            <a:endParaRPr sz="1150" dirty="0">
              <a:latin typeface="Times New Roman"/>
              <a:cs typeface="Times New Roman"/>
            </a:endParaRPr>
          </a:p>
          <a:p>
            <a:pPr marL="466090" lvl="1" indent="-222250">
              <a:lnSpc>
                <a:spcPct val="100000"/>
              </a:lnSpc>
              <a:spcBef>
                <a:spcPts val="75"/>
              </a:spcBef>
              <a:buSzPct val="82608"/>
              <a:buFont typeface="Arial MT"/>
              <a:buChar char="•"/>
              <a:tabLst>
                <a:tab pos="466090" algn="l"/>
              </a:tabLst>
            </a:pPr>
            <a:r>
              <a:rPr sz="1150" dirty="0">
                <a:latin typeface="Times New Roman"/>
                <a:cs typeface="Times New Roman"/>
              </a:rPr>
              <a:t>Checked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types,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missing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values,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column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names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using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.info()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.isnull().sum()</a:t>
            </a:r>
            <a:endParaRPr sz="1150" dirty="0">
              <a:latin typeface="Times New Roman"/>
              <a:cs typeface="Times New Roman"/>
            </a:endParaRPr>
          </a:p>
          <a:p>
            <a:pPr marL="160020" indent="-147320">
              <a:lnSpc>
                <a:spcPct val="100000"/>
              </a:lnSpc>
              <a:spcBef>
                <a:spcPts val="80"/>
              </a:spcBef>
              <a:buAutoNum type="arabicPeriod"/>
              <a:tabLst>
                <a:tab pos="160020" algn="l"/>
              </a:tabLst>
            </a:pPr>
            <a:r>
              <a:rPr sz="1150" b="1" dirty="0">
                <a:latin typeface="Times New Roman"/>
                <a:cs typeface="Times New Roman"/>
              </a:rPr>
              <a:t>Data</a:t>
            </a:r>
            <a:r>
              <a:rPr sz="1150" b="1" spc="10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Cleaning</a:t>
            </a:r>
            <a:endParaRPr sz="1150" dirty="0">
              <a:latin typeface="Times New Roman"/>
              <a:cs typeface="Times New Roman"/>
            </a:endParaRPr>
          </a:p>
          <a:p>
            <a:pPr marL="466090" lvl="1" indent="-222250">
              <a:lnSpc>
                <a:spcPct val="100000"/>
              </a:lnSpc>
              <a:spcBef>
                <a:spcPts val="65"/>
              </a:spcBef>
              <a:buSzPct val="82608"/>
              <a:buFont typeface="Arial MT"/>
              <a:buChar char="•"/>
              <a:tabLst>
                <a:tab pos="466090" algn="l"/>
              </a:tabLst>
            </a:pPr>
            <a:r>
              <a:rPr sz="1150" dirty="0">
                <a:latin typeface="Times New Roman"/>
                <a:cs typeface="Times New Roman"/>
              </a:rPr>
              <a:t>Removed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or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handled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missing/null</a:t>
            </a:r>
            <a:r>
              <a:rPr sz="1150" b="1" spc="3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values</a:t>
            </a:r>
            <a:endParaRPr sz="1150" dirty="0">
              <a:latin typeface="Times New Roman"/>
              <a:cs typeface="Times New Roman"/>
            </a:endParaRPr>
          </a:p>
          <a:p>
            <a:pPr marL="466090" lvl="1" indent="-222250">
              <a:lnSpc>
                <a:spcPct val="100000"/>
              </a:lnSpc>
              <a:spcBef>
                <a:spcPts val="70"/>
              </a:spcBef>
              <a:buSzPct val="82608"/>
              <a:buFont typeface="Arial MT"/>
              <a:buChar char="•"/>
              <a:tabLst>
                <a:tab pos="466090" algn="l"/>
              </a:tabLst>
            </a:pPr>
            <a:r>
              <a:rPr sz="1150" dirty="0">
                <a:latin typeface="Times New Roman"/>
                <a:cs typeface="Times New Roman"/>
              </a:rPr>
              <a:t>Standardized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column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names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better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readability</a:t>
            </a:r>
            <a:endParaRPr sz="1150" dirty="0">
              <a:latin typeface="Times New Roman"/>
              <a:cs typeface="Times New Roman"/>
            </a:endParaRPr>
          </a:p>
          <a:p>
            <a:pPr marL="466090" lvl="1" indent="-222250">
              <a:lnSpc>
                <a:spcPct val="100000"/>
              </a:lnSpc>
              <a:spcBef>
                <a:spcPts val="80"/>
              </a:spcBef>
              <a:buSzPct val="82608"/>
              <a:buFont typeface="Arial MT"/>
              <a:buChar char="•"/>
              <a:tabLst>
                <a:tab pos="466090" algn="l"/>
              </a:tabLst>
            </a:pPr>
            <a:r>
              <a:rPr sz="1150" dirty="0">
                <a:latin typeface="Times New Roman"/>
                <a:cs typeface="Times New Roman"/>
              </a:rPr>
              <a:t>Converted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relevant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fields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proper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types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(e.g.,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float,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int,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string)</a:t>
            </a:r>
            <a:endParaRPr sz="1150" dirty="0">
              <a:latin typeface="Times New Roman"/>
              <a:cs typeface="Times New Roman"/>
            </a:endParaRPr>
          </a:p>
          <a:p>
            <a:pPr marL="466090" lvl="1" indent="-222250">
              <a:lnSpc>
                <a:spcPct val="100000"/>
              </a:lnSpc>
              <a:spcBef>
                <a:spcPts val="75"/>
              </a:spcBef>
              <a:buSzPct val="82608"/>
              <a:buFont typeface="Arial MT"/>
              <a:buChar char="•"/>
              <a:tabLst>
                <a:tab pos="466090" algn="l"/>
              </a:tabLst>
            </a:pPr>
            <a:r>
              <a:rPr sz="1150" dirty="0">
                <a:latin typeface="Times New Roman"/>
                <a:cs typeface="Times New Roman"/>
              </a:rPr>
              <a:t>Dropped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irrelevant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or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duplicate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columns</a:t>
            </a:r>
            <a:endParaRPr sz="1150" dirty="0">
              <a:latin typeface="Times New Roman"/>
              <a:cs typeface="Times New Roman"/>
            </a:endParaRPr>
          </a:p>
          <a:p>
            <a:pPr marL="160020" indent="-147320">
              <a:lnSpc>
                <a:spcPct val="100000"/>
              </a:lnSpc>
              <a:spcBef>
                <a:spcPts val="70"/>
              </a:spcBef>
              <a:buAutoNum type="arabicPeriod"/>
              <a:tabLst>
                <a:tab pos="160020" algn="l"/>
              </a:tabLst>
            </a:pPr>
            <a:r>
              <a:rPr sz="1150" b="1" dirty="0">
                <a:latin typeface="Times New Roman"/>
                <a:cs typeface="Times New Roman"/>
              </a:rPr>
              <a:t>Descriptive</a:t>
            </a:r>
            <a:r>
              <a:rPr sz="1150" b="1" spc="10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Statistics</a:t>
            </a:r>
            <a:endParaRPr sz="1150" dirty="0">
              <a:latin typeface="Times New Roman"/>
              <a:cs typeface="Times New Roman"/>
            </a:endParaRPr>
          </a:p>
          <a:p>
            <a:pPr marL="466090" marR="424180" lvl="1" indent="-222885">
              <a:lnSpc>
                <a:spcPct val="100800"/>
              </a:lnSpc>
              <a:spcBef>
                <a:spcPts val="55"/>
              </a:spcBef>
              <a:buSzPct val="82608"/>
              <a:buFont typeface="Arial MT"/>
              <a:buChar char="•"/>
              <a:tabLst>
                <a:tab pos="466090" algn="l"/>
              </a:tabLst>
            </a:pPr>
            <a:r>
              <a:rPr sz="1150" dirty="0">
                <a:latin typeface="Times New Roman"/>
                <a:cs typeface="Times New Roman"/>
              </a:rPr>
              <a:t>Used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.describe()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compute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basic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statistics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like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mean</a:t>
            </a:r>
            <a:r>
              <a:rPr sz="1150" dirty="0">
                <a:latin typeface="Times New Roman"/>
                <a:cs typeface="Times New Roman"/>
              </a:rPr>
              <a:t>,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median</a:t>
            </a:r>
            <a:r>
              <a:rPr sz="1150" dirty="0">
                <a:latin typeface="Times New Roman"/>
                <a:cs typeface="Times New Roman"/>
              </a:rPr>
              <a:t>,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min</a:t>
            </a:r>
            <a:r>
              <a:rPr sz="1150" dirty="0">
                <a:latin typeface="Times New Roman"/>
                <a:cs typeface="Times New Roman"/>
              </a:rPr>
              <a:t>,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max</a:t>
            </a:r>
            <a:r>
              <a:rPr sz="1150" dirty="0">
                <a:latin typeface="Times New Roman"/>
                <a:cs typeface="Times New Roman"/>
              </a:rPr>
              <a:t>,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standard deviation</a:t>
            </a:r>
            <a:endParaRPr sz="1150" dirty="0">
              <a:latin typeface="Times New Roman"/>
              <a:cs typeface="Times New Roman"/>
            </a:endParaRPr>
          </a:p>
          <a:p>
            <a:pPr marL="466090" lvl="1" indent="-222250">
              <a:lnSpc>
                <a:spcPct val="100000"/>
              </a:lnSpc>
              <a:spcBef>
                <a:spcPts val="80"/>
              </a:spcBef>
              <a:buSzPct val="82608"/>
              <a:buFont typeface="Arial MT"/>
              <a:buChar char="•"/>
              <a:tabLst>
                <a:tab pos="466090" algn="l"/>
              </a:tabLst>
            </a:pPr>
            <a:r>
              <a:rPr sz="1150" dirty="0">
                <a:latin typeface="Times New Roman"/>
                <a:cs typeface="Times New Roman"/>
              </a:rPr>
              <a:t>Identified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outliers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skewed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distributions</a:t>
            </a:r>
            <a:endParaRPr sz="1150" dirty="0">
              <a:latin typeface="Times New Roman"/>
              <a:cs typeface="Times New Roman"/>
            </a:endParaRPr>
          </a:p>
          <a:p>
            <a:pPr marL="160020" indent="-147320">
              <a:lnSpc>
                <a:spcPct val="100000"/>
              </a:lnSpc>
              <a:spcBef>
                <a:spcPts val="65"/>
              </a:spcBef>
              <a:buAutoNum type="arabicPeriod"/>
              <a:tabLst>
                <a:tab pos="160020" algn="l"/>
              </a:tabLst>
            </a:pPr>
            <a:r>
              <a:rPr sz="1150" b="1" dirty="0">
                <a:latin typeface="Times New Roman"/>
                <a:cs typeface="Times New Roman"/>
              </a:rPr>
              <a:t>Correlation</a:t>
            </a:r>
            <a:r>
              <a:rPr sz="1150" b="1" spc="-70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Analysis</a:t>
            </a:r>
            <a:endParaRPr sz="1150" dirty="0">
              <a:latin typeface="Times New Roman"/>
              <a:cs typeface="Times New Roman"/>
            </a:endParaRPr>
          </a:p>
          <a:p>
            <a:pPr marL="466090" lvl="1" indent="-222250">
              <a:lnSpc>
                <a:spcPct val="100000"/>
              </a:lnSpc>
              <a:spcBef>
                <a:spcPts val="80"/>
              </a:spcBef>
              <a:buSzPct val="82608"/>
              <a:buFont typeface="Arial MT"/>
              <a:buChar char="•"/>
              <a:tabLst>
                <a:tab pos="466090" algn="l"/>
              </a:tabLst>
            </a:pPr>
            <a:r>
              <a:rPr sz="1150" dirty="0">
                <a:latin typeface="Times New Roman"/>
                <a:cs typeface="Times New Roman"/>
              </a:rPr>
              <a:t>Created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correlation</a:t>
            </a:r>
            <a:r>
              <a:rPr sz="1150" b="1" spc="1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matrix</a:t>
            </a:r>
            <a:r>
              <a:rPr sz="1150" b="1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observe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relationships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between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numerical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features</a:t>
            </a:r>
            <a:endParaRPr sz="1150" dirty="0">
              <a:latin typeface="Times New Roman"/>
              <a:cs typeface="Times New Roman"/>
            </a:endParaRPr>
          </a:p>
          <a:p>
            <a:pPr marL="466090" lvl="1" indent="-222250">
              <a:lnSpc>
                <a:spcPct val="100000"/>
              </a:lnSpc>
              <a:spcBef>
                <a:spcPts val="65"/>
              </a:spcBef>
              <a:buSzPct val="82608"/>
              <a:buFont typeface="Arial MT"/>
              <a:buChar char="•"/>
              <a:tabLst>
                <a:tab pos="466090" algn="l"/>
              </a:tabLst>
            </a:pPr>
            <a:r>
              <a:rPr sz="1150" dirty="0">
                <a:latin typeface="Times New Roman"/>
                <a:cs typeface="Times New Roman"/>
              </a:rPr>
              <a:t>Found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moderate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strong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correlations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between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population,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total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visits,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number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borrowers</a:t>
            </a:r>
            <a:endParaRPr sz="1150" dirty="0">
              <a:latin typeface="Times New Roman"/>
              <a:cs typeface="Times New Roman"/>
            </a:endParaRPr>
          </a:p>
          <a:p>
            <a:pPr marL="160020" indent="-147320">
              <a:lnSpc>
                <a:spcPct val="100000"/>
              </a:lnSpc>
              <a:spcBef>
                <a:spcPts val="80"/>
              </a:spcBef>
              <a:buAutoNum type="arabicPeriod"/>
              <a:tabLst>
                <a:tab pos="160020" algn="l"/>
              </a:tabLst>
            </a:pPr>
            <a:r>
              <a:rPr sz="1150" b="1" dirty="0">
                <a:latin typeface="Times New Roman"/>
                <a:cs typeface="Times New Roman"/>
              </a:rPr>
              <a:t>Visual Exploration</a:t>
            </a:r>
            <a:r>
              <a:rPr sz="1150" b="1" spc="1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(with</a:t>
            </a:r>
            <a:r>
              <a:rPr sz="1150" b="1" spc="1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Seaborn</a:t>
            </a:r>
            <a:r>
              <a:rPr sz="1150" b="1" spc="1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&amp;</a:t>
            </a:r>
            <a:r>
              <a:rPr sz="1150" b="1" spc="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Matplotlib)</a:t>
            </a:r>
            <a:endParaRPr sz="1150" dirty="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70"/>
              </a:spcBef>
            </a:pPr>
            <a:r>
              <a:rPr sz="1150" dirty="0">
                <a:latin typeface="Times New Roman"/>
                <a:cs typeface="Times New Roman"/>
              </a:rPr>
              <a:t>Several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visualizations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were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created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extract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meaningful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insights:</a:t>
            </a:r>
            <a:endParaRPr sz="1150" dirty="0">
              <a:latin typeface="Times New Roman"/>
              <a:cs typeface="Times New Roman"/>
            </a:endParaRPr>
          </a:p>
          <a:p>
            <a:pPr marL="160020" indent="-147320">
              <a:lnSpc>
                <a:spcPct val="100000"/>
              </a:lnSpc>
              <a:spcBef>
                <a:spcPts val="75"/>
              </a:spcBef>
              <a:buAutoNum type="arabicPeriod" startAt="6"/>
              <a:tabLst>
                <a:tab pos="160020" algn="l"/>
              </a:tabLst>
            </a:pPr>
            <a:r>
              <a:rPr sz="1150" b="1" dirty="0">
                <a:latin typeface="Times New Roman"/>
                <a:cs typeface="Times New Roman"/>
              </a:rPr>
              <a:t>Handling</a:t>
            </a:r>
            <a:r>
              <a:rPr sz="1150" b="1" spc="1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Outliers</a:t>
            </a:r>
            <a:endParaRPr sz="1150" dirty="0">
              <a:latin typeface="Times New Roman"/>
              <a:cs typeface="Times New Roman"/>
            </a:endParaRPr>
          </a:p>
          <a:p>
            <a:pPr marL="683895" lvl="1" indent="-224154">
              <a:lnSpc>
                <a:spcPct val="100000"/>
              </a:lnSpc>
              <a:spcBef>
                <a:spcPts val="70"/>
              </a:spcBef>
              <a:buSzPct val="82608"/>
              <a:buFont typeface="Arial MT"/>
              <a:buChar char="•"/>
              <a:tabLst>
                <a:tab pos="683895" algn="l"/>
              </a:tabLst>
            </a:pPr>
            <a:r>
              <a:rPr sz="1150" dirty="0">
                <a:latin typeface="Times New Roman"/>
                <a:cs typeface="Times New Roman"/>
              </a:rPr>
              <a:t>Visualized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numerical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distributions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using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boxplots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histograms</a:t>
            </a:r>
            <a:endParaRPr sz="1150" dirty="0">
              <a:latin typeface="Times New Roman"/>
              <a:cs typeface="Times New Roman"/>
            </a:endParaRPr>
          </a:p>
          <a:p>
            <a:pPr marL="683895" lvl="1" indent="-224154">
              <a:lnSpc>
                <a:spcPct val="100000"/>
              </a:lnSpc>
              <a:spcBef>
                <a:spcPts val="65"/>
              </a:spcBef>
              <a:buSzPct val="82608"/>
              <a:buFont typeface="Arial MT"/>
              <a:buChar char="•"/>
              <a:tabLst>
                <a:tab pos="683895" algn="l"/>
              </a:tabLst>
            </a:pPr>
            <a:r>
              <a:rPr sz="1150" dirty="0">
                <a:latin typeface="Times New Roman"/>
                <a:cs typeface="Times New Roman"/>
              </a:rPr>
              <a:t>Identified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optionally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removed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extreme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values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improve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visualization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accuracy</a:t>
            </a:r>
            <a:endParaRPr sz="11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01113" y="426020"/>
            <a:ext cx="851535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00" b="1" spc="-10" dirty="0">
                <a:latin typeface="Times New Roman"/>
                <a:cs typeface="Times New Roman"/>
              </a:rPr>
              <a:t>Visualization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1949" y="609809"/>
            <a:ext cx="633730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00" b="1" spc="-10" dirty="0">
                <a:latin typeface="Times New Roman"/>
                <a:cs typeface="Times New Roman"/>
              </a:rPr>
              <a:t>Objective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1949" y="691081"/>
            <a:ext cx="2268855" cy="58674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R="267970" algn="r">
              <a:lnSpc>
                <a:spcPct val="100000"/>
              </a:lnSpc>
              <a:spcBef>
                <a:spcPts val="925"/>
              </a:spcBef>
            </a:pPr>
            <a:r>
              <a:rPr sz="1200" b="1" spc="-20" dirty="0">
                <a:latin typeface="Times New Roman"/>
                <a:cs typeface="Times New Roman"/>
              </a:rPr>
              <a:t>Used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150" dirty="0">
                <a:latin typeface="Times New Roman"/>
                <a:cs typeface="Times New Roman"/>
              </a:rPr>
              <a:t>Population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vs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Total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Visits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Scatter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Plot</a:t>
            </a:r>
            <a:endParaRPr sz="11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55395" y="609809"/>
            <a:ext cx="471805" cy="19941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00" b="1" spc="-10" dirty="0">
                <a:latin typeface="Times New Roman"/>
                <a:cs typeface="Times New Roman"/>
              </a:rPr>
              <a:t>Insight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8341" y="977633"/>
            <a:ext cx="2560320" cy="76649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4900"/>
              </a:lnSpc>
              <a:spcBef>
                <a:spcPts val="50"/>
              </a:spcBef>
            </a:pPr>
            <a:r>
              <a:rPr sz="1150" dirty="0">
                <a:latin typeface="Times New Roman"/>
                <a:cs typeface="Times New Roman"/>
              </a:rPr>
              <a:t>Positive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trend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with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some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variance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dense areas</a:t>
            </a:r>
            <a:endParaRPr lang="en-US" sz="1150" spc="-10" dirty="0">
              <a:latin typeface="Times New Roman"/>
              <a:cs typeface="Times New Roman"/>
            </a:endParaRPr>
          </a:p>
          <a:p>
            <a:pPr marL="12700" marR="5080">
              <a:lnSpc>
                <a:spcPct val="104900"/>
              </a:lnSpc>
              <a:spcBef>
                <a:spcPts val="50"/>
              </a:spcBef>
            </a:pPr>
            <a:endParaRPr sz="11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150" dirty="0">
                <a:latin typeface="Times New Roman"/>
                <a:cs typeface="Times New Roman"/>
              </a:rPr>
              <a:t>Moderate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positive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correlation</a:t>
            </a:r>
            <a:endParaRPr sz="11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1949" y="1325942"/>
            <a:ext cx="2629535" cy="8413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95"/>
              </a:spcBef>
              <a:tabLst>
                <a:tab pos="1681480" algn="l"/>
              </a:tabLst>
            </a:pPr>
            <a:endParaRPr lang="en-US" sz="1150" dirty="0">
              <a:latin typeface="Times New Roman"/>
              <a:cs typeface="Times New Roman"/>
            </a:endParaRPr>
          </a:p>
          <a:p>
            <a:pPr marL="12700" marR="5080">
              <a:lnSpc>
                <a:spcPct val="118400"/>
              </a:lnSpc>
              <a:spcBef>
                <a:spcPts val="95"/>
              </a:spcBef>
              <a:tabLst>
                <a:tab pos="1681480" algn="l"/>
              </a:tabLst>
            </a:pPr>
            <a:r>
              <a:rPr sz="1150" dirty="0">
                <a:latin typeface="Times New Roman"/>
                <a:cs typeface="Times New Roman"/>
              </a:rPr>
              <a:t>Population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vs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Borrowers</a:t>
            </a:r>
            <a:r>
              <a:rPr sz="1150" dirty="0">
                <a:latin typeface="Times New Roman"/>
                <a:cs typeface="Times New Roman"/>
              </a:rPr>
              <a:t>	Regression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Plot </a:t>
            </a:r>
            <a:r>
              <a:rPr sz="1150" dirty="0">
                <a:latin typeface="Times New Roman"/>
                <a:cs typeface="Times New Roman"/>
              </a:rPr>
              <a:t>Avg</a:t>
            </a:r>
            <a:r>
              <a:rPr sz="1150" spc="-6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Operating</a:t>
            </a:r>
            <a:endParaRPr sz="1150" dirty="0">
              <a:latin typeface="Times New Roman"/>
              <a:cs typeface="Times New Roman"/>
            </a:endParaRPr>
          </a:p>
          <a:p>
            <a:pPr marL="1680210">
              <a:lnSpc>
                <a:spcPct val="100000"/>
              </a:lnSpc>
              <a:spcBef>
                <a:spcPts val="65"/>
              </a:spcBef>
            </a:pPr>
            <a:r>
              <a:rPr sz="1150" dirty="0">
                <a:latin typeface="Times New Roman"/>
                <a:cs typeface="Times New Roman"/>
              </a:rPr>
              <a:t>Bar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Chart</a:t>
            </a:r>
            <a:endParaRPr sz="115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1949" y="1930665"/>
            <a:ext cx="1424305" cy="5949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10" dirty="0">
                <a:latin typeface="Times New Roman"/>
                <a:cs typeface="Times New Roman"/>
              </a:rPr>
              <a:t>Expenditure</a:t>
            </a:r>
            <a:endParaRPr sz="11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50" dirty="0">
                <a:latin typeface="Times New Roman"/>
                <a:cs typeface="Times New Roman"/>
              </a:rPr>
              <a:t>Top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Countries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by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Visits</a:t>
            </a:r>
            <a:endParaRPr sz="11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150" dirty="0">
                <a:latin typeface="Times New Roman"/>
                <a:cs typeface="Times New Roman"/>
              </a:rPr>
              <a:t>Collection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Per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Capita</a:t>
            </a:r>
            <a:endParaRPr sz="115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18341" y="1746876"/>
            <a:ext cx="2366010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dirty="0">
                <a:latin typeface="Times New Roman"/>
                <a:cs typeface="Times New Roman"/>
              </a:rPr>
              <a:t>Highlighted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disparities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across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countries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99631" y="2084810"/>
            <a:ext cx="582930" cy="440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">
              <a:lnSpc>
                <a:spcPct val="118400"/>
              </a:lnSpc>
              <a:spcBef>
                <a:spcPts val="95"/>
              </a:spcBef>
            </a:pPr>
            <a:r>
              <a:rPr sz="1150" dirty="0">
                <a:latin typeface="Times New Roman"/>
                <a:cs typeface="Times New Roman"/>
              </a:rPr>
              <a:t>Pie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Chart </a:t>
            </a:r>
            <a:r>
              <a:rPr sz="1150" dirty="0">
                <a:latin typeface="Times New Roman"/>
                <a:cs typeface="Times New Roman"/>
              </a:rPr>
              <a:t>Box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Plot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18341" y="2084810"/>
            <a:ext cx="2536190" cy="440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95"/>
              </a:spcBef>
            </a:pPr>
            <a:r>
              <a:rPr sz="1150" dirty="0">
                <a:latin typeface="Times New Roman"/>
                <a:cs typeface="Times New Roman"/>
              </a:rPr>
              <a:t>Showed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most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engaged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library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users </a:t>
            </a:r>
            <a:r>
              <a:rPr sz="1150" dirty="0">
                <a:latin typeface="Times New Roman"/>
                <a:cs typeface="Times New Roman"/>
              </a:rPr>
              <a:t>Displayed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fairness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resource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distribution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651" y="1274218"/>
            <a:ext cx="5443855" cy="62776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740"/>
              </a:spcBef>
              <a:buAutoNum type="arabicPeriod" startAt="4"/>
              <a:tabLst>
                <a:tab pos="220979" algn="l"/>
              </a:tabLst>
            </a:pPr>
            <a:r>
              <a:rPr sz="1600" b="1" dirty="0">
                <a:latin typeface="Times New Roman"/>
                <a:cs typeface="Times New Roman"/>
              </a:rPr>
              <a:t>Analysis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on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Dataset(for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each</a:t>
            </a:r>
            <a:r>
              <a:rPr sz="1600" b="1" spc="-10" dirty="0">
                <a:latin typeface="Times New Roman"/>
                <a:cs typeface="Times New Roman"/>
              </a:rPr>
              <a:t> analysis)</a:t>
            </a:r>
            <a:endParaRPr sz="1600">
              <a:latin typeface="Times New Roman"/>
              <a:cs typeface="Times New Roman"/>
            </a:endParaRPr>
          </a:p>
          <a:p>
            <a:pPr marL="161925">
              <a:lnSpc>
                <a:spcPct val="100000"/>
              </a:lnSpc>
              <a:spcBef>
                <a:spcPts val="484"/>
              </a:spcBef>
            </a:pPr>
            <a:r>
              <a:rPr sz="1200" b="1" dirty="0">
                <a:latin typeface="Times New Roman"/>
                <a:cs typeface="Times New Roman"/>
              </a:rPr>
              <a:t>Objective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1: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Relationship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between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Population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Total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Library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Visits</a:t>
            </a:r>
            <a:endParaRPr sz="1200">
              <a:latin typeface="Times New Roman"/>
              <a:cs typeface="Times New Roman"/>
            </a:endParaRPr>
          </a:p>
          <a:p>
            <a:pPr marL="292735" lvl="1" indent="-130810">
              <a:lnSpc>
                <a:spcPct val="100000"/>
              </a:lnSpc>
              <a:spcBef>
                <a:spcPts val="790"/>
              </a:spcBef>
              <a:buAutoNum type="romanLcParenR"/>
              <a:tabLst>
                <a:tab pos="29273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Introduction</a:t>
            </a:r>
            <a:endParaRPr sz="1200">
              <a:latin typeface="Times New Roman"/>
              <a:cs typeface="Times New Roman"/>
            </a:endParaRPr>
          </a:p>
          <a:p>
            <a:pPr marL="167640" marR="48260" indent="-6350">
              <a:lnSpc>
                <a:spcPct val="1550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examine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whether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increase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population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service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leads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corresponding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rise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total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visits.</a:t>
            </a:r>
            <a:endParaRPr sz="1200">
              <a:latin typeface="Times New Roman"/>
              <a:cs typeface="Times New Roman"/>
            </a:endParaRPr>
          </a:p>
          <a:p>
            <a:pPr marL="167640" marR="6985">
              <a:lnSpc>
                <a:spcPts val="2240"/>
              </a:lnSpc>
              <a:spcBef>
                <a:spcPts val="200"/>
              </a:spcBef>
            </a:pPr>
            <a:r>
              <a:rPr sz="1200" spc="-10" dirty="0">
                <a:latin typeface="Times New Roman"/>
                <a:cs typeface="Times New Roman"/>
              </a:rPr>
              <a:t>Understanding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relationship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population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density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influences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library usage.</a:t>
            </a:r>
            <a:endParaRPr sz="1200">
              <a:latin typeface="Times New Roman"/>
              <a:cs typeface="Times New Roman"/>
            </a:endParaRPr>
          </a:p>
          <a:p>
            <a:pPr marL="335280" lvl="1" indent="-173355">
              <a:lnSpc>
                <a:spcPct val="100000"/>
              </a:lnSpc>
              <a:spcBef>
                <a:spcPts val="595"/>
              </a:spcBef>
              <a:buAutoNum type="romanLcParenR" startAt="2"/>
              <a:tabLst>
                <a:tab pos="335280" algn="l"/>
              </a:tabLst>
            </a:pPr>
            <a:r>
              <a:rPr sz="1200" b="1" dirty="0">
                <a:latin typeface="Times New Roman"/>
                <a:cs typeface="Times New Roman"/>
              </a:rPr>
              <a:t>General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Description</a:t>
            </a:r>
            <a:endParaRPr sz="1200">
              <a:latin typeface="Times New Roman"/>
              <a:cs typeface="Times New Roman"/>
            </a:endParaRPr>
          </a:p>
          <a:p>
            <a:pPr marL="167640" marR="104775" indent="-6350">
              <a:lnSpc>
                <a:spcPct val="1550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Population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Service</a:t>
            </a:r>
            <a:r>
              <a:rPr sz="1200" i="1" spc="-5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Area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i="1" spc="-20" dirty="0">
                <a:latin typeface="Times New Roman"/>
                <a:cs typeface="Times New Roman"/>
              </a:rPr>
              <a:t>Total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Library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Visits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continuous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numerical variables.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relationship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expected,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populations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typically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 </a:t>
            </a:r>
            <a:r>
              <a:rPr sz="1200" dirty="0">
                <a:latin typeface="Times New Roman"/>
                <a:cs typeface="Times New Roman"/>
              </a:rPr>
              <a:t>higher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public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service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utilization.</a:t>
            </a:r>
            <a:endParaRPr sz="1200">
              <a:latin typeface="Times New Roman"/>
              <a:cs typeface="Times New Roman"/>
            </a:endParaRPr>
          </a:p>
          <a:p>
            <a:pPr marL="377190" lvl="1" indent="-215265">
              <a:lnSpc>
                <a:spcPct val="100000"/>
              </a:lnSpc>
              <a:spcBef>
                <a:spcPts val="805"/>
              </a:spcBef>
              <a:buAutoNum type="romanLcParenR" startAt="3"/>
              <a:tabLst>
                <a:tab pos="377190" algn="l"/>
              </a:tabLst>
            </a:pPr>
            <a:r>
              <a:rPr sz="1200" b="1" dirty="0">
                <a:latin typeface="Times New Roman"/>
                <a:cs typeface="Times New Roman"/>
              </a:rPr>
              <a:t>Specific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Requirements,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Functions,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Formulas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Used</a:t>
            </a:r>
            <a:endParaRPr sz="1200">
              <a:latin typeface="Times New Roman"/>
              <a:cs typeface="Times New Roman"/>
            </a:endParaRPr>
          </a:p>
          <a:p>
            <a:pPr marL="396875" lvl="2" indent="-229235">
              <a:lnSpc>
                <a:spcPct val="100000"/>
              </a:lnSpc>
              <a:spcBef>
                <a:spcPts val="790"/>
              </a:spcBef>
              <a:buSzPct val="83333"/>
              <a:buFont typeface="Symbol"/>
              <a:buChar char=""/>
              <a:tabLst>
                <a:tab pos="396875" algn="l"/>
              </a:tabLst>
            </a:pP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scatterplot()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Seaborn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relationship</a:t>
            </a:r>
            <a:endParaRPr sz="1200">
              <a:latin typeface="Times New Roman"/>
              <a:cs typeface="Times New Roman"/>
            </a:endParaRPr>
          </a:p>
          <a:p>
            <a:pPr marL="396875" lvl="2" indent="-229235">
              <a:lnSpc>
                <a:spcPct val="100000"/>
              </a:lnSpc>
              <a:spcBef>
                <a:spcPts val="805"/>
              </a:spcBef>
              <a:buSzPct val="83333"/>
              <a:buFont typeface="Symbol"/>
              <a:buChar char=""/>
              <a:tabLst>
                <a:tab pos="396875" algn="l"/>
              </a:tabLst>
            </a:pPr>
            <a:r>
              <a:rPr sz="1200" dirty="0">
                <a:latin typeface="Times New Roman"/>
                <a:cs typeface="Times New Roman"/>
              </a:rPr>
              <a:t>Calculated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Pearson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correlation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coefficient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pandas.corr()</a:t>
            </a:r>
            <a:endParaRPr sz="1200">
              <a:latin typeface="Times New Roman"/>
              <a:cs typeface="Times New Roman"/>
            </a:endParaRPr>
          </a:p>
          <a:p>
            <a:pPr marL="359410" indent="-197485">
              <a:lnSpc>
                <a:spcPct val="100000"/>
              </a:lnSpc>
              <a:spcBef>
                <a:spcPts val="790"/>
              </a:spcBef>
              <a:buAutoNum type="romanLcParenR" startAt="4"/>
              <a:tabLst>
                <a:tab pos="359410" algn="l"/>
              </a:tabLst>
            </a:pPr>
            <a:r>
              <a:rPr sz="1200" b="1" dirty="0">
                <a:latin typeface="Times New Roman"/>
                <a:cs typeface="Times New Roman"/>
              </a:rPr>
              <a:t>Analysis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Results</a:t>
            </a:r>
            <a:endParaRPr sz="1200">
              <a:latin typeface="Times New Roman"/>
              <a:cs typeface="Times New Roman"/>
            </a:endParaRPr>
          </a:p>
          <a:p>
            <a:pPr marL="396875" lvl="1" indent="-229235">
              <a:lnSpc>
                <a:spcPct val="100000"/>
              </a:lnSpc>
              <a:spcBef>
                <a:spcPts val="795"/>
              </a:spcBef>
              <a:buSzPct val="83333"/>
              <a:buFont typeface="Symbol"/>
              <a:buChar char=""/>
              <a:tabLst>
                <a:tab pos="396875" algn="l"/>
              </a:tabLst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strong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correlation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0.84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observed</a:t>
            </a:r>
            <a:endParaRPr sz="1200">
              <a:latin typeface="Times New Roman"/>
              <a:cs typeface="Times New Roman"/>
            </a:endParaRPr>
          </a:p>
          <a:p>
            <a:pPr marL="396875" lvl="1" indent="-229235">
              <a:lnSpc>
                <a:spcPct val="100000"/>
              </a:lnSpc>
              <a:spcBef>
                <a:spcPts val="805"/>
              </a:spcBef>
              <a:buSzPct val="83333"/>
              <a:buFont typeface="Symbol"/>
              <a:buChar char=""/>
              <a:tabLst>
                <a:tab pos="396875" algn="l"/>
              </a:tabLst>
            </a:pP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populated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service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areas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generally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recorded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visits</a:t>
            </a:r>
            <a:endParaRPr sz="1200">
              <a:latin typeface="Times New Roman"/>
              <a:cs typeface="Times New Roman"/>
            </a:endParaRPr>
          </a:p>
          <a:p>
            <a:pPr marL="396875" marR="5080" lvl="1" indent="-229235">
              <a:lnSpc>
                <a:spcPct val="155000"/>
              </a:lnSpc>
              <a:buSzPct val="83333"/>
              <a:buFont typeface="Symbol"/>
              <a:buChar char=""/>
              <a:tabLst>
                <a:tab pos="396875" algn="l"/>
              </a:tabLst>
            </a:pPr>
            <a:r>
              <a:rPr sz="1200" dirty="0">
                <a:latin typeface="Times New Roman"/>
                <a:cs typeface="Times New Roman"/>
              </a:rPr>
              <a:t>Significant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variance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exists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population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levels,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influencing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accessibility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service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quality</a:t>
            </a:r>
            <a:endParaRPr sz="1200">
              <a:latin typeface="Times New Roman"/>
              <a:cs typeface="Times New Roman"/>
            </a:endParaRPr>
          </a:p>
          <a:p>
            <a:pPr marL="161925">
              <a:lnSpc>
                <a:spcPct val="100000"/>
              </a:lnSpc>
              <a:spcBef>
                <a:spcPts val="805"/>
              </a:spcBef>
            </a:pPr>
            <a:r>
              <a:rPr sz="1200" b="1" dirty="0">
                <a:latin typeface="Times New Roman"/>
                <a:cs typeface="Times New Roman"/>
              </a:rPr>
              <a:t>v)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Visualization</a:t>
            </a:r>
            <a:endParaRPr sz="1200">
              <a:latin typeface="Times New Roman"/>
              <a:cs typeface="Times New Roman"/>
            </a:endParaRPr>
          </a:p>
          <a:p>
            <a:pPr marL="167640" marR="14604" indent="-6350">
              <a:lnSpc>
                <a:spcPts val="224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scatter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plot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illustrated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small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medium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populations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clear </a:t>
            </a:r>
            <a:r>
              <a:rPr sz="1200" dirty="0">
                <a:latin typeface="Times New Roman"/>
                <a:cs typeface="Times New Roman"/>
              </a:rPr>
              <a:t>upward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confirming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positive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association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population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visits.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04" y="6451472"/>
            <a:ext cx="4001770" cy="3767454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200" b="1" dirty="0">
                <a:latin typeface="Times New Roman"/>
                <a:cs typeface="Times New Roman"/>
              </a:rPr>
              <a:t>Objective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2: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Population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vs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Total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Registered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Borrowers</a:t>
            </a:r>
            <a:endParaRPr sz="1200">
              <a:latin typeface="Times New Roman"/>
              <a:cs typeface="Times New Roman"/>
            </a:endParaRPr>
          </a:p>
          <a:p>
            <a:pPr marL="143510" indent="-130810">
              <a:lnSpc>
                <a:spcPct val="100000"/>
              </a:lnSpc>
              <a:spcBef>
                <a:spcPts val="830"/>
              </a:spcBef>
              <a:buAutoNum type="romanLcParenR"/>
              <a:tabLst>
                <a:tab pos="14351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Introduction</a:t>
            </a:r>
            <a:endParaRPr sz="1200">
              <a:latin typeface="Times New Roman"/>
              <a:cs typeface="Times New Roman"/>
            </a:endParaRPr>
          </a:p>
          <a:p>
            <a:pPr marL="18415" marR="127000" indent="-6350">
              <a:lnSpc>
                <a:spcPct val="15750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objective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aims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population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size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impacts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borrowers.</a:t>
            </a:r>
            <a:endParaRPr sz="1200">
              <a:latin typeface="Times New Roman"/>
              <a:cs typeface="Times New Roman"/>
            </a:endParaRPr>
          </a:p>
          <a:p>
            <a:pPr marL="186055" indent="-173355">
              <a:lnSpc>
                <a:spcPct val="100000"/>
              </a:lnSpc>
              <a:spcBef>
                <a:spcPts val="820"/>
              </a:spcBef>
              <a:buAutoNum type="romanLcParenR" startAt="2"/>
              <a:tabLst>
                <a:tab pos="186055" algn="l"/>
              </a:tabLst>
            </a:pPr>
            <a:r>
              <a:rPr sz="1200" b="1" dirty="0">
                <a:latin typeface="Times New Roman"/>
                <a:cs typeface="Times New Roman"/>
              </a:rPr>
              <a:t>General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Description</a:t>
            </a:r>
            <a:endParaRPr sz="1200">
              <a:latin typeface="Times New Roman"/>
              <a:cs typeface="Times New Roman"/>
            </a:endParaRPr>
          </a:p>
          <a:p>
            <a:pPr marL="18415" marR="5080" indent="-6350">
              <a:lnSpc>
                <a:spcPct val="157500"/>
              </a:lnSpc>
            </a:pP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numerical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logically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connected,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higher </a:t>
            </a:r>
            <a:r>
              <a:rPr sz="1200" dirty="0">
                <a:latin typeface="Times New Roman"/>
                <a:cs typeface="Times New Roman"/>
              </a:rPr>
              <a:t>population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users.</a:t>
            </a:r>
            <a:endParaRPr sz="1200">
              <a:latin typeface="Times New Roman"/>
              <a:cs typeface="Times New Roman"/>
            </a:endParaRPr>
          </a:p>
          <a:p>
            <a:pPr marL="227965" indent="-215265">
              <a:lnSpc>
                <a:spcPct val="100000"/>
              </a:lnSpc>
              <a:spcBef>
                <a:spcPts val="825"/>
              </a:spcBef>
              <a:buAutoNum type="romanLcParenR" startAt="3"/>
              <a:tabLst>
                <a:tab pos="227965" algn="l"/>
              </a:tabLst>
            </a:pPr>
            <a:r>
              <a:rPr sz="1200" b="1" dirty="0">
                <a:latin typeface="Times New Roman"/>
                <a:cs typeface="Times New Roman"/>
              </a:rPr>
              <a:t>Specific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Requirements,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Functions,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Formulas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Used</a:t>
            </a:r>
            <a:endParaRPr sz="1200">
              <a:latin typeface="Times New Roman"/>
              <a:cs typeface="Times New Roman"/>
            </a:endParaRPr>
          </a:p>
          <a:p>
            <a:pPr marL="247650" marR="81915" lvl="1" indent="-229235">
              <a:lnSpc>
                <a:spcPts val="2270"/>
              </a:lnSpc>
              <a:spcBef>
                <a:spcPts val="200"/>
              </a:spcBef>
              <a:buSzPct val="83333"/>
              <a:buFont typeface="Symbol"/>
              <a:buChar char=""/>
              <a:tabLst>
                <a:tab pos="247650" algn="l"/>
              </a:tabLst>
            </a:pP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regplot()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Seaborn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display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trend </a:t>
            </a:r>
            <a:r>
              <a:rPr sz="1200" spc="-20" dirty="0">
                <a:latin typeface="Times New Roman"/>
                <a:cs typeface="Times New Roman"/>
              </a:rPr>
              <a:t>line</a:t>
            </a:r>
            <a:endParaRPr sz="1200">
              <a:latin typeface="Times New Roman"/>
              <a:cs typeface="Times New Roman"/>
            </a:endParaRPr>
          </a:p>
          <a:p>
            <a:pPr marL="247015" lvl="1" indent="-228600">
              <a:lnSpc>
                <a:spcPct val="100000"/>
              </a:lnSpc>
              <a:spcBef>
                <a:spcPts val="615"/>
              </a:spcBef>
              <a:buSzPct val="83333"/>
              <a:buFont typeface="Symbol"/>
              <a:buChar char=""/>
              <a:tabLst>
                <a:tab pos="247015" algn="l"/>
              </a:tabLst>
            </a:pPr>
            <a:r>
              <a:rPr sz="1200" dirty="0">
                <a:latin typeface="Times New Roman"/>
                <a:cs typeface="Times New Roman"/>
              </a:rPr>
              <a:t>Computed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Pearson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correlation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coefficient</a:t>
            </a:r>
            <a:endParaRPr sz="1200">
              <a:latin typeface="Times New Roman"/>
              <a:cs typeface="Times New Roman"/>
            </a:endParaRPr>
          </a:p>
          <a:p>
            <a:pPr marL="210185" indent="-197485">
              <a:lnSpc>
                <a:spcPct val="100000"/>
              </a:lnSpc>
              <a:spcBef>
                <a:spcPts val="825"/>
              </a:spcBef>
              <a:buAutoNum type="romanLcParenR" startAt="4"/>
              <a:tabLst>
                <a:tab pos="210185" algn="l"/>
              </a:tabLst>
            </a:pPr>
            <a:r>
              <a:rPr sz="1200" b="1" dirty="0">
                <a:latin typeface="Times New Roman"/>
                <a:cs typeface="Times New Roman"/>
              </a:rPr>
              <a:t>Analysis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Results</a:t>
            </a:r>
            <a:endParaRPr sz="1200">
              <a:latin typeface="Times New Roman"/>
              <a:cs typeface="Times New Roman"/>
            </a:endParaRPr>
          </a:p>
          <a:p>
            <a:pPr marL="247015" lvl="1" indent="-228600">
              <a:lnSpc>
                <a:spcPct val="100000"/>
              </a:lnSpc>
              <a:spcBef>
                <a:spcPts val="830"/>
              </a:spcBef>
              <a:buSzPct val="83333"/>
              <a:buFont typeface="Symbol"/>
              <a:buChar char=""/>
              <a:tabLst>
                <a:tab pos="247015" algn="l"/>
              </a:tabLst>
            </a:pPr>
            <a:r>
              <a:rPr sz="1200" dirty="0">
                <a:latin typeface="Times New Roman"/>
                <a:cs typeface="Times New Roman"/>
              </a:rPr>
              <a:t>Correlation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coefficient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observed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0" dirty="0">
                <a:latin typeface="Times New Roman"/>
                <a:cs typeface="Times New Roman"/>
              </a:rPr>
              <a:t> 0.80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032" y="1229538"/>
            <a:ext cx="5710334" cy="435646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17550" y="6474459"/>
            <a:ext cx="6663055" cy="29209"/>
            <a:chOff x="717550" y="6474459"/>
            <a:chExt cx="6663055" cy="29209"/>
          </a:xfrm>
        </p:grpSpPr>
        <p:sp>
          <p:nvSpPr>
            <p:cNvPr id="5" name="object 5"/>
            <p:cNvSpPr/>
            <p:nvPr/>
          </p:nvSpPr>
          <p:spPr>
            <a:xfrm>
              <a:off x="717550" y="6474459"/>
              <a:ext cx="6663055" cy="21590"/>
            </a:xfrm>
            <a:custGeom>
              <a:avLst/>
              <a:gdLst/>
              <a:ahLst/>
              <a:cxnLst/>
              <a:rect l="l" t="t" r="r" b="b"/>
              <a:pathLst>
                <a:path w="6663055" h="21589">
                  <a:moveTo>
                    <a:pt x="6662801" y="2032"/>
                  </a:moveTo>
                  <a:lnTo>
                    <a:pt x="6654038" y="2032"/>
                  </a:lnTo>
                  <a:lnTo>
                    <a:pt x="6654038" y="0"/>
                  </a:lnTo>
                  <a:lnTo>
                    <a:pt x="0" y="0"/>
                  </a:lnTo>
                  <a:lnTo>
                    <a:pt x="0" y="21209"/>
                  </a:lnTo>
                  <a:lnTo>
                    <a:pt x="6654038" y="21209"/>
                  </a:lnTo>
                  <a:lnTo>
                    <a:pt x="6654038" y="10922"/>
                  </a:lnTo>
                  <a:lnTo>
                    <a:pt x="6662801" y="10922"/>
                  </a:lnTo>
                  <a:lnTo>
                    <a:pt x="6662801" y="2032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8108" y="6479412"/>
              <a:ext cx="6662420" cy="24130"/>
            </a:xfrm>
            <a:custGeom>
              <a:avLst/>
              <a:gdLst/>
              <a:ahLst/>
              <a:cxnLst/>
              <a:rect l="l" t="t" r="r" b="b"/>
              <a:pathLst>
                <a:path w="6662420" h="24129">
                  <a:moveTo>
                    <a:pt x="6652971" y="14986"/>
                  </a:moveTo>
                  <a:lnTo>
                    <a:pt x="9144" y="14986"/>
                  </a:lnTo>
                  <a:lnTo>
                    <a:pt x="3048" y="14986"/>
                  </a:lnTo>
                  <a:lnTo>
                    <a:pt x="0" y="14986"/>
                  </a:lnTo>
                  <a:lnTo>
                    <a:pt x="0" y="23876"/>
                  </a:lnTo>
                  <a:lnTo>
                    <a:pt x="3048" y="23876"/>
                  </a:lnTo>
                  <a:lnTo>
                    <a:pt x="9144" y="23876"/>
                  </a:lnTo>
                  <a:lnTo>
                    <a:pt x="6652971" y="23876"/>
                  </a:lnTo>
                  <a:lnTo>
                    <a:pt x="6652971" y="14986"/>
                  </a:lnTo>
                  <a:close/>
                </a:path>
                <a:path w="6662420" h="24129">
                  <a:moveTo>
                    <a:pt x="6662242" y="0"/>
                  </a:moveTo>
                  <a:lnTo>
                    <a:pt x="6653098" y="0"/>
                  </a:lnTo>
                  <a:lnTo>
                    <a:pt x="6653098" y="14986"/>
                  </a:lnTo>
                  <a:lnTo>
                    <a:pt x="6653098" y="23876"/>
                  </a:lnTo>
                  <a:lnTo>
                    <a:pt x="6662242" y="23876"/>
                  </a:lnTo>
                  <a:lnTo>
                    <a:pt x="6662242" y="14986"/>
                  </a:lnTo>
                  <a:lnTo>
                    <a:pt x="6662242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04" y="1026920"/>
            <a:ext cx="3934460" cy="2328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0" marR="22860" indent="-229235">
              <a:lnSpc>
                <a:spcPct val="1575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7650" algn="l"/>
              </a:tabLst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strong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linear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exists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population</a:t>
            </a:r>
            <a:r>
              <a:rPr sz="1200" spc="-25" dirty="0">
                <a:latin typeface="Times New Roman"/>
                <a:cs typeface="Times New Roman"/>
              </a:rPr>
              <a:t> and </a:t>
            </a:r>
            <a:r>
              <a:rPr sz="1200" dirty="0">
                <a:latin typeface="Times New Roman"/>
                <a:cs typeface="Times New Roman"/>
              </a:rPr>
              <a:t>registered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borrowers</a:t>
            </a:r>
            <a:endParaRPr sz="1200">
              <a:latin typeface="Times New Roman"/>
              <a:cs typeface="Times New Roman"/>
            </a:endParaRPr>
          </a:p>
          <a:p>
            <a:pPr marL="247650" marR="356235" indent="-229235">
              <a:lnSpc>
                <a:spcPct val="157500"/>
              </a:lnSpc>
              <a:buSzPct val="83333"/>
              <a:buFont typeface="Symbol"/>
              <a:buChar char=""/>
              <a:tabLst>
                <a:tab pos="247650" algn="l"/>
              </a:tabLst>
            </a:pP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outliers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observed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high-</a:t>
            </a:r>
            <a:r>
              <a:rPr sz="1200" dirty="0">
                <a:latin typeface="Times New Roman"/>
                <a:cs typeface="Times New Roman"/>
              </a:rPr>
              <a:t>population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areas, </a:t>
            </a:r>
            <a:r>
              <a:rPr sz="1200" dirty="0">
                <a:latin typeface="Times New Roman"/>
                <a:cs typeface="Times New Roman"/>
              </a:rPr>
              <a:t>possibly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alternative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10" dirty="0">
                <a:latin typeface="Times New Roman"/>
                <a:cs typeface="Times New Roman"/>
              </a:rPr>
              <a:t> services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200" b="1" dirty="0">
                <a:latin typeface="Times New Roman"/>
                <a:cs typeface="Times New Roman"/>
              </a:rPr>
              <a:t>v)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Visualization</a:t>
            </a:r>
            <a:endParaRPr sz="1200">
              <a:latin typeface="Times New Roman"/>
              <a:cs typeface="Times New Roman"/>
            </a:endParaRPr>
          </a:p>
          <a:p>
            <a:pPr marL="18415" marR="5080" indent="-6350">
              <a:lnSpc>
                <a:spcPct val="1575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plot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fitted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highlighted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linear relationship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overall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association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population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borrower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registration.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04" y="7914893"/>
            <a:ext cx="4011295" cy="258318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200" b="1" dirty="0">
                <a:latin typeface="Times New Roman"/>
                <a:cs typeface="Times New Roman"/>
              </a:rPr>
              <a:t>Objective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3: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Average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Operating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Expenditure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by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County</a:t>
            </a:r>
            <a:endParaRPr sz="1200">
              <a:latin typeface="Times New Roman"/>
              <a:cs typeface="Times New Roman"/>
            </a:endParaRPr>
          </a:p>
          <a:p>
            <a:pPr marL="143510" indent="-130810">
              <a:lnSpc>
                <a:spcPct val="100000"/>
              </a:lnSpc>
              <a:spcBef>
                <a:spcPts val="800"/>
              </a:spcBef>
              <a:buAutoNum type="romanLcParenR"/>
              <a:tabLst>
                <a:tab pos="14351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Introduction</a:t>
            </a:r>
            <a:endParaRPr sz="1200">
              <a:latin typeface="Times New Roman"/>
              <a:cs typeface="Times New Roman"/>
            </a:endParaRPr>
          </a:p>
          <a:p>
            <a:pPr marL="18415" marR="467359" indent="-6350">
              <a:lnSpc>
                <a:spcPts val="2240"/>
              </a:lnSpc>
              <a:spcBef>
                <a:spcPts val="20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purpose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average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library </a:t>
            </a:r>
            <a:r>
              <a:rPr sz="1200" dirty="0">
                <a:latin typeface="Times New Roman"/>
                <a:cs typeface="Times New Roman"/>
              </a:rPr>
              <a:t>operating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expenditures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different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counties.</a:t>
            </a:r>
            <a:endParaRPr sz="1200">
              <a:latin typeface="Times New Roman"/>
              <a:cs typeface="Times New Roman"/>
            </a:endParaRPr>
          </a:p>
          <a:p>
            <a:pPr marL="186055" indent="-173355">
              <a:lnSpc>
                <a:spcPct val="100000"/>
              </a:lnSpc>
              <a:spcBef>
                <a:spcPts val="590"/>
              </a:spcBef>
              <a:buAutoNum type="romanLcParenR" startAt="2"/>
              <a:tabLst>
                <a:tab pos="186055" algn="l"/>
              </a:tabLst>
            </a:pPr>
            <a:r>
              <a:rPr sz="1200" b="1" dirty="0">
                <a:latin typeface="Times New Roman"/>
                <a:cs typeface="Times New Roman"/>
              </a:rPr>
              <a:t>General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Description</a:t>
            </a:r>
            <a:endParaRPr sz="1200">
              <a:latin typeface="Times New Roman"/>
              <a:cs typeface="Times New Roman"/>
            </a:endParaRPr>
          </a:p>
          <a:p>
            <a:pPr marL="18415" marR="5080" indent="-6350">
              <a:lnSpc>
                <a:spcPts val="2240"/>
              </a:lnSpc>
              <a:spcBef>
                <a:spcPts val="200"/>
              </a:spcBef>
            </a:pPr>
            <a:r>
              <a:rPr sz="1200" dirty="0">
                <a:latin typeface="Times New Roman"/>
                <a:cs typeface="Times New Roman"/>
              </a:rPr>
              <a:t>Operating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expenditure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grouped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County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averaged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differences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funding</a:t>
            </a:r>
            <a:r>
              <a:rPr sz="1200" spc="-10" dirty="0">
                <a:latin typeface="Times New Roman"/>
                <a:cs typeface="Times New Roman"/>
              </a:rPr>
              <a:t> allocation.</a:t>
            </a:r>
            <a:endParaRPr sz="1200">
              <a:latin typeface="Times New Roman"/>
              <a:cs typeface="Times New Roman"/>
            </a:endParaRPr>
          </a:p>
          <a:p>
            <a:pPr marL="227965" indent="-215265">
              <a:lnSpc>
                <a:spcPct val="100000"/>
              </a:lnSpc>
              <a:spcBef>
                <a:spcPts val="590"/>
              </a:spcBef>
              <a:buAutoNum type="romanLcParenR" startAt="3"/>
              <a:tabLst>
                <a:tab pos="227965" algn="l"/>
              </a:tabLst>
            </a:pPr>
            <a:r>
              <a:rPr sz="1200" b="1" dirty="0">
                <a:latin typeface="Times New Roman"/>
                <a:cs typeface="Times New Roman"/>
              </a:rPr>
              <a:t>Specific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Requirements,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Functions,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Formulas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Used</a:t>
            </a:r>
            <a:endParaRPr sz="1200">
              <a:latin typeface="Times New Roman"/>
              <a:cs typeface="Times New Roman"/>
            </a:endParaRPr>
          </a:p>
          <a:p>
            <a:pPr marL="247015" lvl="1" indent="-228600">
              <a:lnSpc>
                <a:spcPct val="100000"/>
              </a:lnSpc>
              <a:spcBef>
                <a:spcPts val="790"/>
              </a:spcBef>
              <a:buSzPct val="83333"/>
              <a:buFont typeface="Symbol"/>
              <a:buChar char=""/>
              <a:tabLst>
                <a:tab pos="247015" algn="l"/>
              </a:tabLst>
            </a:pP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groupby()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mean()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Pandas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446" y="3518084"/>
            <a:ext cx="5663681" cy="354759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17550" y="7934832"/>
            <a:ext cx="6663055" cy="29209"/>
            <a:chOff x="717550" y="7934832"/>
            <a:chExt cx="6663055" cy="29209"/>
          </a:xfrm>
        </p:grpSpPr>
        <p:sp>
          <p:nvSpPr>
            <p:cNvPr id="6" name="object 6"/>
            <p:cNvSpPr/>
            <p:nvPr/>
          </p:nvSpPr>
          <p:spPr>
            <a:xfrm>
              <a:off x="717550" y="7934832"/>
              <a:ext cx="6663055" cy="20955"/>
            </a:xfrm>
            <a:custGeom>
              <a:avLst/>
              <a:gdLst/>
              <a:ahLst/>
              <a:cxnLst/>
              <a:rect l="l" t="t" r="r" b="b"/>
              <a:pathLst>
                <a:path w="6663055" h="20954">
                  <a:moveTo>
                    <a:pt x="6662801" y="1651"/>
                  </a:moveTo>
                  <a:lnTo>
                    <a:pt x="6654038" y="1651"/>
                  </a:lnTo>
                  <a:lnTo>
                    <a:pt x="6654038" y="0"/>
                  </a:lnTo>
                  <a:lnTo>
                    <a:pt x="0" y="0"/>
                  </a:lnTo>
                  <a:lnTo>
                    <a:pt x="0" y="20828"/>
                  </a:lnTo>
                  <a:lnTo>
                    <a:pt x="6654038" y="20828"/>
                  </a:lnTo>
                  <a:lnTo>
                    <a:pt x="6654038" y="10668"/>
                  </a:lnTo>
                  <a:lnTo>
                    <a:pt x="6662801" y="10668"/>
                  </a:lnTo>
                  <a:lnTo>
                    <a:pt x="6662801" y="1651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8108" y="7939531"/>
              <a:ext cx="6662420" cy="24765"/>
            </a:xfrm>
            <a:custGeom>
              <a:avLst/>
              <a:gdLst/>
              <a:ahLst/>
              <a:cxnLst/>
              <a:rect l="l" t="t" r="r" b="b"/>
              <a:pathLst>
                <a:path w="6662420" h="24765">
                  <a:moveTo>
                    <a:pt x="6652971" y="15113"/>
                  </a:moveTo>
                  <a:lnTo>
                    <a:pt x="9144" y="15113"/>
                  </a:lnTo>
                  <a:lnTo>
                    <a:pt x="3048" y="15113"/>
                  </a:lnTo>
                  <a:lnTo>
                    <a:pt x="0" y="15113"/>
                  </a:lnTo>
                  <a:lnTo>
                    <a:pt x="0" y="24257"/>
                  </a:lnTo>
                  <a:lnTo>
                    <a:pt x="3048" y="24257"/>
                  </a:lnTo>
                  <a:lnTo>
                    <a:pt x="9144" y="24257"/>
                  </a:lnTo>
                  <a:lnTo>
                    <a:pt x="6652971" y="24257"/>
                  </a:lnTo>
                  <a:lnTo>
                    <a:pt x="6652971" y="15113"/>
                  </a:lnTo>
                  <a:close/>
                </a:path>
                <a:path w="6662420" h="24765">
                  <a:moveTo>
                    <a:pt x="6662242" y="0"/>
                  </a:moveTo>
                  <a:lnTo>
                    <a:pt x="6653098" y="0"/>
                  </a:lnTo>
                  <a:lnTo>
                    <a:pt x="6653098" y="15113"/>
                  </a:lnTo>
                  <a:lnTo>
                    <a:pt x="6653098" y="24257"/>
                  </a:lnTo>
                  <a:lnTo>
                    <a:pt x="6662242" y="24257"/>
                  </a:lnTo>
                  <a:lnTo>
                    <a:pt x="6662242" y="15113"/>
                  </a:lnTo>
                  <a:lnTo>
                    <a:pt x="6662242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04" y="1029969"/>
            <a:ext cx="4032885" cy="286829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47015" indent="-228600">
              <a:lnSpc>
                <a:spcPct val="100000"/>
              </a:lnSpc>
              <a:spcBef>
                <a:spcPts val="905"/>
              </a:spcBef>
              <a:buSzPct val="83333"/>
              <a:buFont typeface="Symbol"/>
              <a:buChar char=""/>
              <a:tabLst>
                <a:tab pos="247015" algn="l"/>
              </a:tabLst>
            </a:pPr>
            <a:r>
              <a:rPr sz="1200" spc="-10" dirty="0">
                <a:latin typeface="Times New Roman"/>
                <a:cs typeface="Times New Roman"/>
              </a:rPr>
              <a:t>Visualized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barplot()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Seaborn</a:t>
            </a:r>
            <a:endParaRPr sz="1200">
              <a:latin typeface="Times New Roman"/>
              <a:cs typeface="Times New Roman"/>
            </a:endParaRPr>
          </a:p>
          <a:p>
            <a:pPr marL="210185" indent="-197485">
              <a:lnSpc>
                <a:spcPct val="100000"/>
              </a:lnSpc>
              <a:spcBef>
                <a:spcPts val="800"/>
              </a:spcBef>
              <a:buAutoNum type="romanLcParenR" startAt="4"/>
              <a:tabLst>
                <a:tab pos="210185" algn="l"/>
              </a:tabLst>
            </a:pPr>
            <a:r>
              <a:rPr sz="1200" b="1" dirty="0">
                <a:latin typeface="Times New Roman"/>
                <a:cs typeface="Times New Roman"/>
              </a:rPr>
              <a:t>Analysis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Results</a:t>
            </a:r>
            <a:endParaRPr sz="1200">
              <a:latin typeface="Times New Roman"/>
              <a:cs typeface="Times New Roman"/>
            </a:endParaRPr>
          </a:p>
          <a:p>
            <a:pPr marL="247650" marR="189230" lvl="1" indent="-229235">
              <a:lnSpc>
                <a:spcPct val="155000"/>
              </a:lnSpc>
              <a:buSzPct val="83333"/>
              <a:buFont typeface="Symbol"/>
              <a:buChar char=""/>
              <a:tabLst>
                <a:tab pos="247650" algn="l"/>
              </a:tabLst>
            </a:pPr>
            <a:r>
              <a:rPr sz="1200" dirty="0">
                <a:latin typeface="Times New Roman"/>
                <a:cs typeface="Times New Roman"/>
              </a:rPr>
              <a:t>Considerable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disparities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spending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observed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among counties</a:t>
            </a:r>
            <a:endParaRPr sz="1200">
              <a:latin typeface="Times New Roman"/>
              <a:cs typeface="Times New Roman"/>
            </a:endParaRPr>
          </a:p>
          <a:p>
            <a:pPr marL="247015" lvl="1" indent="-228600">
              <a:lnSpc>
                <a:spcPct val="100000"/>
              </a:lnSpc>
              <a:spcBef>
                <a:spcPts val="805"/>
              </a:spcBef>
              <a:buSzPct val="83333"/>
              <a:buFont typeface="Symbol"/>
              <a:buChar char=""/>
              <a:tabLst>
                <a:tab pos="247015" algn="l"/>
              </a:tabLst>
            </a:pP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counties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consistently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invest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operations</a:t>
            </a:r>
            <a:endParaRPr sz="1200">
              <a:latin typeface="Times New Roman"/>
              <a:cs typeface="Times New Roman"/>
            </a:endParaRPr>
          </a:p>
          <a:p>
            <a:pPr marL="247650" marR="212725" lvl="1" indent="-229235">
              <a:lnSpc>
                <a:spcPts val="2240"/>
              </a:lnSpc>
              <a:spcBef>
                <a:spcPts val="200"/>
              </a:spcBef>
              <a:buSzPct val="83333"/>
              <a:buFont typeface="Symbol"/>
              <a:buChar char=""/>
              <a:tabLst>
                <a:tab pos="247650" algn="l"/>
              </a:tabLst>
            </a:pPr>
            <a:r>
              <a:rPr sz="1200" dirty="0">
                <a:latin typeface="Times New Roman"/>
                <a:cs typeface="Times New Roman"/>
              </a:rPr>
              <a:t>Higher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expenditure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populations,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better </a:t>
            </a:r>
            <a:r>
              <a:rPr sz="1200" dirty="0">
                <a:latin typeface="Times New Roman"/>
                <a:cs typeface="Times New Roman"/>
              </a:rPr>
              <a:t>funding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policies,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infrastructure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200" b="1" dirty="0">
                <a:latin typeface="Times New Roman"/>
                <a:cs typeface="Times New Roman"/>
              </a:rPr>
              <a:t>v)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Visualization</a:t>
            </a:r>
            <a:endParaRPr sz="1200">
              <a:latin typeface="Times New Roman"/>
              <a:cs typeface="Times New Roman"/>
            </a:endParaRPr>
          </a:p>
          <a:p>
            <a:pPr marL="18415" marR="5080" indent="175260">
              <a:lnSpc>
                <a:spcPts val="224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chart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ordered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average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expenditure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highlighted </a:t>
            </a:r>
            <a:r>
              <a:rPr sz="1200" dirty="0">
                <a:latin typeface="Times New Roman"/>
                <a:cs typeface="Times New Roman"/>
              </a:rPr>
              <a:t>counties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highest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lowest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spending.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04" y="8097773"/>
            <a:ext cx="4070985" cy="230441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200" b="1" dirty="0">
                <a:latin typeface="Times New Roman"/>
                <a:cs typeface="Times New Roman"/>
              </a:rPr>
              <a:t>Objective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4: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Top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Counties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by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Total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Library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Visits</a:t>
            </a:r>
            <a:endParaRPr sz="1200">
              <a:latin typeface="Times New Roman"/>
              <a:cs typeface="Times New Roman"/>
            </a:endParaRPr>
          </a:p>
          <a:p>
            <a:pPr marL="143510" indent="-130810">
              <a:lnSpc>
                <a:spcPct val="100000"/>
              </a:lnSpc>
              <a:spcBef>
                <a:spcPts val="805"/>
              </a:spcBef>
              <a:buAutoNum type="romanLcParenR"/>
              <a:tabLst>
                <a:tab pos="14351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Introduction</a:t>
            </a:r>
            <a:endParaRPr sz="1200">
              <a:latin typeface="Times New Roman"/>
              <a:cs typeface="Times New Roman"/>
            </a:endParaRPr>
          </a:p>
          <a:p>
            <a:pPr marL="18415" marR="333375" indent="-6350">
              <a:lnSpc>
                <a:spcPct val="15580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identifies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counties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highest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total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library </a:t>
            </a:r>
            <a:r>
              <a:rPr sz="1200" dirty="0">
                <a:latin typeface="Times New Roman"/>
                <a:cs typeface="Times New Roman"/>
              </a:rPr>
              <a:t>footfall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regional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engagement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levels.</a:t>
            </a:r>
            <a:endParaRPr sz="1200">
              <a:latin typeface="Times New Roman"/>
              <a:cs typeface="Times New Roman"/>
            </a:endParaRPr>
          </a:p>
          <a:p>
            <a:pPr marL="186055" indent="-173355">
              <a:lnSpc>
                <a:spcPct val="100000"/>
              </a:lnSpc>
              <a:spcBef>
                <a:spcPts val="805"/>
              </a:spcBef>
              <a:buAutoNum type="romanLcParenR" startAt="2"/>
              <a:tabLst>
                <a:tab pos="186055" algn="l"/>
              </a:tabLst>
            </a:pPr>
            <a:r>
              <a:rPr sz="1200" b="1" dirty="0">
                <a:latin typeface="Times New Roman"/>
                <a:cs typeface="Times New Roman"/>
              </a:rPr>
              <a:t>General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Description</a:t>
            </a:r>
            <a:endParaRPr sz="1200">
              <a:latin typeface="Times New Roman"/>
              <a:cs typeface="Times New Roman"/>
            </a:endParaRPr>
          </a:p>
          <a:p>
            <a:pPr marL="18415" marR="5080" indent="-6350">
              <a:lnSpc>
                <a:spcPts val="2240"/>
              </a:lnSpc>
              <a:spcBef>
                <a:spcPts val="200"/>
              </a:spcBef>
            </a:pPr>
            <a:r>
              <a:rPr sz="1200" spc="-10" dirty="0">
                <a:latin typeface="Times New Roman"/>
                <a:cs typeface="Times New Roman"/>
              </a:rPr>
              <a:t>Total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visits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aggregated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libraries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each </a:t>
            </a:r>
            <a:r>
              <a:rPr sz="1200" spc="-10" dirty="0">
                <a:latin typeface="Times New Roman"/>
                <a:cs typeface="Times New Roman"/>
              </a:rPr>
              <a:t>county.</a:t>
            </a:r>
            <a:endParaRPr sz="1200">
              <a:latin typeface="Times New Roman"/>
              <a:cs typeface="Times New Roman"/>
            </a:endParaRPr>
          </a:p>
          <a:p>
            <a:pPr marL="227965" indent="-215265">
              <a:lnSpc>
                <a:spcPct val="100000"/>
              </a:lnSpc>
              <a:spcBef>
                <a:spcPts val="605"/>
              </a:spcBef>
              <a:buAutoNum type="romanLcParenR" startAt="3"/>
              <a:tabLst>
                <a:tab pos="227965" algn="l"/>
              </a:tabLst>
            </a:pPr>
            <a:r>
              <a:rPr sz="1200" b="1" dirty="0">
                <a:latin typeface="Times New Roman"/>
                <a:cs typeface="Times New Roman"/>
              </a:rPr>
              <a:t>Specific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Requirements,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Functions,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Formulas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Used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1512" y="4337827"/>
            <a:ext cx="5660177" cy="294042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17550" y="8184515"/>
            <a:ext cx="6663055" cy="30480"/>
            <a:chOff x="717550" y="8184515"/>
            <a:chExt cx="6663055" cy="30480"/>
          </a:xfrm>
        </p:grpSpPr>
        <p:sp>
          <p:nvSpPr>
            <p:cNvPr id="6" name="object 6"/>
            <p:cNvSpPr/>
            <p:nvPr/>
          </p:nvSpPr>
          <p:spPr>
            <a:xfrm>
              <a:off x="717550" y="8184515"/>
              <a:ext cx="6663055" cy="21590"/>
            </a:xfrm>
            <a:custGeom>
              <a:avLst/>
              <a:gdLst/>
              <a:ahLst/>
              <a:cxnLst/>
              <a:rect l="l" t="t" r="r" b="b"/>
              <a:pathLst>
                <a:path w="6663055" h="21590">
                  <a:moveTo>
                    <a:pt x="6662801" y="3175"/>
                  </a:moveTo>
                  <a:lnTo>
                    <a:pt x="6654038" y="3175"/>
                  </a:lnTo>
                  <a:lnTo>
                    <a:pt x="6654038" y="0"/>
                  </a:lnTo>
                  <a:lnTo>
                    <a:pt x="0" y="0"/>
                  </a:lnTo>
                  <a:lnTo>
                    <a:pt x="0" y="21209"/>
                  </a:lnTo>
                  <a:lnTo>
                    <a:pt x="558" y="21209"/>
                  </a:lnTo>
                  <a:lnTo>
                    <a:pt x="9702" y="21209"/>
                  </a:lnTo>
                  <a:lnTo>
                    <a:pt x="6654038" y="21209"/>
                  </a:lnTo>
                  <a:lnTo>
                    <a:pt x="6654038" y="12192"/>
                  </a:lnTo>
                  <a:lnTo>
                    <a:pt x="6662801" y="12192"/>
                  </a:lnTo>
                  <a:lnTo>
                    <a:pt x="6662801" y="3175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8108" y="8190738"/>
              <a:ext cx="6662420" cy="24130"/>
            </a:xfrm>
            <a:custGeom>
              <a:avLst/>
              <a:gdLst/>
              <a:ahLst/>
              <a:cxnLst/>
              <a:rect l="l" t="t" r="r" b="b"/>
              <a:pathLst>
                <a:path w="6662420" h="24129">
                  <a:moveTo>
                    <a:pt x="6652971" y="14986"/>
                  </a:moveTo>
                  <a:lnTo>
                    <a:pt x="9144" y="14986"/>
                  </a:lnTo>
                  <a:lnTo>
                    <a:pt x="3048" y="14986"/>
                  </a:lnTo>
                  <a:lnTo>
                    <a:pt x="0" y="14986"/>
                  </a:lnTo>
                  <a:lnTo>
                    <a:pt x="0" y="23876"/>
                  </a:lnTo>
                  <a:lnTo>
                    <a:pt x="3048" y="23876"/>
                  </a:lnTo>
                  <a:lnTo>
                    <a:pt x="9144" y="23876"/>
                  </a:lnTo>
                  <a:lnTo>
                    <a:pt x="6652971" y="23876"/>
                  </a:lnTo>
                  <a:lnTo>
                    <a:pt x="6652971" y="14986"/>
                  </a:lnTo>
                  <a:close/>
                </a:path>
                <a:path w="6662420" h="24129">
                  <a:moveTo>
                    <a:pt x="6662242" y="0"/>
                  </a:moveTo>
                  <a:lnTo>
                    <a:pt x="6653098" y="0"/>
                  </a:lnTo>
                  <a:lnTo>
                    <a:pt x="6653098" y="14986"/>
                  </a:lnTo>
                  <a:lnTo>
                    <a:pt x="6653098" y="23876"/>
                  </a:lnTo>
                  <a:lnTo>
                    <a:pt x="6662242" y="23876"/>
                  </a:lnTo>
                  <a:lnTo>
                    <a:pt x="6662242" y="14986"/>
                  </a:lnTo>
                  <a:lnTo>
                    <a:pt x="6662242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04" y="1029969"/>
            <a:ext cx="3912235" cy="315912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47015" indent="-228600">
              <a:lnSpc>
                <a:spcPct val="100000"/>
              </a:lnSpc>
              <a:spcBef>
                <a:spcPts val="905"/>
              </a:spcBef>
              <a:buSzPct val="83333"/>
              <a:buFont typeface="Symbol"/>
              <a:buChar char=""/>
              <a:tabLst>
                <a:tab pos="247015" algn="l"/>
              </a:tabLst>
            </a:pP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groupby()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sum()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Pandas</a:t>
            </a:r>
            <a:endParaRPr sz="1200">
              <a:latin typeface="Times New Roman"/>
              <a:cs typeface="Times New Roman"/>
            </a:endParaRPr>
          </a:p>
          <a:p>
            <a:pPr marL="247015" indent="-228600">
              <a:lnSpc>
                <a:spcPct val="100000"/>
              </a:lnSpc>
              <a:spcBef>
                <a:spcPts val="800"/>
              </a:spcBef>
              <a:buSzPct val="83333"/>
              <a:buFont typeface="Symbol"/>
              <a:buChar char=""/>
              <a:tabLst>
                <a:tab pos="247015" algn="l"/>
              </a:tabLst>
            </a:pPr>
            <a:r>
              <a:rPr sz="1200" dirty="0">
                <a:latin typeface="Times New Roman"/>
                <a:cs typeface="Times New Roman"/>
              </a:rPr>
              <a:t>Selected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counties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nlargest()</a:t>
            </a:r>
            <a:endParaRPr sz="1200">
              <a:latin typeface="Times New Roman"/>
              <a:cs typeface="Times New Roman"/>
            </a:endParaRPr>
          </a:p>
          <a:p>
            <a:pPr marL="247015" indent="-228600">
              <a:lnSpc>
                <a:spcPct val="100000"/>
              </a:lnSpc>
              <a:spcBef>
                <a:spcPts val="805"/>
              </a:spcBef>
              <a:buSzPct val="83333"/>
              <a:buFont typeface="Symbol"/>
              <a:buChar char=""/>
              <a:tabLst>
                <a:tab pos="247015" algn="l"/>
              </a:tabLst>
            </a:pPr>
            <a:r>
              <a:rPr sz="1200" spc="-10" dirty="0">
                <a:latin typeface="Times New Roman"/>
                <a:cs typeface="Times New Roman"/>
              </a:rPr>
              <a:t>Visualized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pie()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10" dirty="0">
                <a:latin typeface="Times New Roman"/>
                <a:cs typeface="Times New Roman"/>
              </a:rPr>
              <a:t> Matplotlib</a:t>
            </a:r>
            <a:endParaRPr sz="1200">
              <a:latin typeface="Times New Roman"/>
              <a:cs typeface="Times New Roman"/>
            </a:endParaRPr>
          </a:p>
          <a:p>
            <a:pPr marL="210185" indent="-197485">
              <a:lnSpc>
                <a:spcPct val="100000"/>
              </a:lnSpc>
              <a:spcBef>
                <a:spcPts val="805"/>
              </a:spcBef>
              <a:buAutoNum type="romanLcParenR" startAt="4"/>
              <a:tabLst>
                <a:tab pos="210185" algn="l"/>
              </a:tabLst>
            </a:pPr>
            <a:r>
              <a:rPr sz="1200" b="1" dirty="0">
                <a:latin typeface="Times New Roman"/>
                <a:cs typeface="Times New Roman"/>
              </a:rPr>
              <a:t>Analysis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Results</a:t>
            </a:r>
            <a:endParaRPr sz="1200">
              <a:latin typeface="Times New Roman"/>
              <a:cs typeface="Times New Roman"/>
            </a:endParaRPr>
          </a:p>
          <a:p>
            <a:pPr marL="247650" marR="5080" lvl="1" indent="-229235">
              <a:lnSpc>
                <a:spcPct val="155800"/>
              </a:lnSpc>
              <a:buSzPct val="83333"/>
              <a:buFont typeface="Symbol"/>
              <a:buChar char=""/>
              <a:tabLst>
                <a:tab pos="247650" algn="l"/>
              </a:tabLst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small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counties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contribute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total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visits</a:t>
            </a:r>
            <a:endParaRPr sz="1200">
              <a:latin typeface="Times New Roman"/>
              <a:cs typeface="Times New Roman"/>
            </a:endParaRPr>
          </a:p>
          <a:p>
            <a:pPr marL="247650" marR="139700" lvl="1" indent="-229235">
              <a:lnSpc>
                <a:spcPts val="2240"/>
              </a:lnSpc>
              <a:spcBef>
                <a:spcPts val="200"/>
              </a:spcBef>
              <a:buSzPct val="83333"/>
              <a:buFont typeface="Symbol"/>
              <a:buChar char=""/>
              <a:tabLst>
                <a:tab pos="247650" algn="l"/>
              </a:tabLst>
            </a:pPr>
            <a:r>
              <a:rPr sz="1200" dirty="0">
                <a:latin typeface="Times New Roman"/>
                <a:cs typeface="Times New Roman"/>
              </a:rPr>
              <a:t>High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footfall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reflects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population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density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strong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community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participation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00" b="1" dirty="0">
                <a:latin typeface="Times New Roman"/>
                <a:cs typeface="Times New Roman"/>
              </a:rPr>
              <a:t>v)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Visualization</a:t>
            </a:r>
            <a:endParaRPr sz="1200">
              <a:latin typeface="Times New Roman"/>
              <a:cs typeface="Times New Roman"/>
            </a:endParaRPr>
          </a:p>
          <a:p>
            <a:pPr marL="18415" marR="22225" indent="-6350">
              <a:lnSpc>
                <a:spcPct val="155800"/>
              </a:lnSpc>
            </a:pP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pie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chart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displayed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percentage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contribution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top </a:t>
            </a:r>
            <a:r>
              <a:rPr sz="1200" b="1" dirty="0">
                <a:latin typeface="Times New Roman"/>
                <a:cs typeface="Times New Roman"/>
              </a:rPr>
              <a:t>five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counties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overall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library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visits.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622" y="4648504"/>
            <a:ext cx="5225374" cy="488559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17550" y="10316578"/>
            <a:ext cx="6663055" cy="29209"/>
            <a:chOff x="717550" y="10316578"/>
            <a:chExt cx="6663055" cy="29209"/>
          </a:xfrm>
        </p:grpSpPr>
        <p:sp>
          <p:nvSpPr>
            <p:cNvPr id="5" name="object 5"/>
            <p:cNvSpPr/>
            <p:nvPr/>
          </p:nvSpPr>
          <p:spPr>
            <a:xfrm>
              <a:off x="717550" y="10316578"/>
              <a:ext cx="6663055" cy="21590"/>
            </a:xfrm>
            <a:custGeom>
              <a:avLst/>
              <a:gdLst/>
              <a:ahLst/>
              <a:cxnLst/>
              <a:rect l="l" t="t" r="r" b="b"/>
              <a:pathLst>
                <a:path w="6663055" h="21590">
                  <a:moveTo>
                    <a:pt x="6662801" y="1993"/>
                  </a:moveTo>
                  <a:lnTo>
                    <a:pt x="6654038" y="1993"/>
                  </a:lnTo>
                  <a:lnTo>
                    <a:pt x="6654038" y="0"/>
                  </a:lnTo>
                  <a:lnTo>
                    <a:pt x="0" y="0"/>
                  </a:lnTo>
                  <a:lnTo>
                    <a:pt x="0" y="21120"/>
                  </a:lnTo>
                  <a:lnTo>
                    <a:pt x="6654038" y="21120"/>
                  </a:lnTo>
                  <a:lnTo>
                    <a:pt x="6654038" y="10934"/>
                  </a:lnTo>
                  <a:lnTo>
                    <a:pt x="6662801" y="10934"/>
                  </a:lnTo>
                  <a:lnTo>
                    <a:pt x="6662801" y="1993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8108" y="10321543"/>
              <a:ext cx="6662420" cy="24130"/>
            </a:xfrm>
            <a:custGeom>
              <a:avLst/>
              <a:gdLst/>
              <a:ahLst/>
              <a:cxnLst/>
              <a:rect l="l" t="t" r="r" b="b"/>
              <a:pathLst>
                <a:path w="6662420" h="24129">
                  <a:moveTo>
                    <a:pt x="6652971" y="14909"/>
                  </a:moveTo>
                  <a:lnTo>
                    <a:pt x="9144" y="14909"/>
                  </a:lnTo>
                  <a:lnTo>
                    <a:pt x="3048" y="14909"/>
                  </a:lnTo>
                  <a:lnTo>
                    <a:pt x="0" y="14909"/>
                  </a:lnTo>
                  <a:lnTo>
                    <a:pt x="0" y="23863"/>
                  </a:lnTo>
                  <a:lnTo>
                    <a:pt x="3048" y="23863"/>
                  </a:lnTo>
                  <a:lnTo>
                    <a:pt x="9144" y="23863"/>
                  </a:lnTo>
                  <a:lnTo>
                    <a:pt x="6652971" y="23863"/>
                  </a:lnTo>
                  <a:lnTo>
                    <a:pt x="6652971" y="14909"/>
                  </a:lnTo>
                  <a:close/>
                </a:path>
                <a:path w="6662420" h="24129">
                  <a:moveTo>
                    <a:pt x="6662242" y="0"/>
                  </a:moveTo>
                  <a:lnTo>
                    <a:pt x="6653098" y="0"/>
                  </a:lnTo>
                  <a:lnTo>
                    <a:pt x="6653098" y="14909"/>
                  </a:lnTo>
                  <a:lnTo>
                    <a:pt x="6653098" y="23863"/>
                  </a:lnTo>
                  <a:lnTo>
                    <a:pt x="6662242" y="23863"/>
                  </a:lnTo>
                  <a:lnTo>
                    <a:pt x="6662242" y="14909"/>
                  </a:lnTo>
                  <a:lnTo>
                    <a:pt x="6662242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04" y="1026920"/>
            <a:ext cx="4076065" cy="549275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200" b="1" dirty="0">
                <a:latin typeface="Times New Roman"/>
                <a:cs typeface="Times New Roman"/>
              </a:rPr>
              <a:t>Objective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5: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Distribution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Collection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Per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Capita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County</a:t>
            </a:r>
            <a:endParaRPr sz="1200">
              <a:latin typeface="Times New Roman"/>
              <a:cs typeface="Times New Roman"/>
            </a:endParaRPr>
          </a:p>
          <a:p>
            <a:pPr marL="143510" indent="-130810">
              <a:lnSpc>
                <a:spcPct val="100000"/>
              </a:lnSpc>
              <a:spcBef>
                <a:spcPts val="830"/>
              </a:spcBef>
              <a:buAutoNum type="romanLcParenR"/>
              <a:tabLst>
                <a:tab pos="14351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Introduction</a:t>
            </a:r>
            <a:endParaRPr sz="1200">
              <a:latin typeface="Times New Roman"/>
              <a:cs typeface="Times New Roman"/>
            </a:endParaRPr>
          </a:p>
          <a:p>
            <a:pPr marL="18415" marR="377190" indent="-6350">
              <a:lnSpc>
                <a:spcPct val="1575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fairness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consistency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spc="-10" dirty="0">
                <a:latin typeface="Times New Roman"/>
                <a:cs typeface="Times New Roman"/>
              </a:rPr>
              <a:t>availability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counties.</a:t>
            </a:r>
            <a:endParaRPr sz="1200">
              <a:latin typeface="Times New Roman"/>
              <a:cs typeface="Times New Roman"/>
            </a:endParaRPr>
          </a:p>
          <a:p>
            <a:pPr marL="186055" indent="-173355">
              <a:lnSpc>
                <a:spcPct val="100000"/>
              </a:lnSpc>
              <a:spcBef>
                <a:spcPts val="815"/>
              </a:spcBef>
              <a:buAutoNum type="romanLcParenR" startAt="2"/>
              <a:tabLst>
                <a:tab pos="186055" algn="l"/>
              </a:tabLst>
            </a:pPr>
            <a:r>
              <a:rPr sz="1200" b="1" dirty="0">
                <a:latin typeface="Times New Roman"/>
                <a:cs typeface="Times New Roman"/>
              </a:rPr>
              <a:t>General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Description</a:t>
            </a:r>
            <a:endParaRPr sz="1200">
              <a:latin typeface="Times New Roman"/>
              <a:cs typeface="Times New Roman"/>
            </a:endParaRPr>
          </a:p>
          <a:p>
            <a:pPr marL="18415" marR="106045" indent="-6350">
              <a:lnSpc>
                <a:spcPct val="157500"/>
              </a:lnSpc>
            </a:pPr>
            <a:r>
              <a:rPr sz="1200" i="1" dirty="0">
                <a:latin typeface="Times New Roman"/>
                <a:cs typeface="Times New Roman"/>
              </a:rPr>
              <a:t>Collection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Per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Capita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Served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numerical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grouped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by </a:t>
            </a:r>
            <a:r>
              <a:rPr sz="1200" dirty="0">
                <a:latin typeface="Times New Roman"/>
                <a:cs typeface="Times New Roman"/>
              </a:rPr>
              <a:t>county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distribution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patterns.</a:t>
            </a:r>
            <a:endParaRPr sz="1200">
              <a:latin typeface="Times New Roman"/>
              <a:cs typeface="Times New Roman"/>
            </a:endParaRPr>
          </a:p>
          <a:p>
            <a:pPr marL="227965" indent="-215265">
              <a:lnSpc>
                <a:spcPct val="100000"/>
              </a:lnSpc>
              <a:spcBef>
                <a:spcPts val="830"/>
              </a:spcBef>
              <a:buAutoNum type="romanLcParenR" startAt="3"/>
              <a:tabLst>
                <a:tab pos="227965" algn="l"/>
              </a:tabLst>
            </a:pPr>
            <a:r>
              <a:rPr sz="1200" b="1" dirty="0">
                <a:latin typeface="Times New Roman"/>
                <a:cs typeface="Times New Roman"/>
              </a:rPr>
              <a:t>Specific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Requirements,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Functions,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Formulas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Used</a:t>
            </a:r>
            <a:endParaRPr sz="1200">
              <a:latin typeface="Times New Roman"/>
              <a:cs typeface="Times New Roman"/>
            </a:endParaRPr>
          </a:p>
          <a:p>
            <a:pPr marL="247015" lvl="1" indent="-228600">
              <a:lnSpc>
                <a:spcPct val="100000"/>
              </a:lnSpc>
              <a:spcBef>
                <a:spcPts val="830"/>
              </a:spcBef>
              <a:buSzPct val="83333"/>
              <a:buFont typeface="Symbol"/>
              <a:buChar char=""/>
              <a:tabLst>
                <a:tab pos="247015" algn="l"/>
              </a:tabLst>
            </a:pP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boxplot()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Seaborn</a:t>
            </a:r>
            <a:endParaRPr sz="1200">
              <a:latin typeface="Times New Roman"/>
              <a:cs typeface="Times New Roman"/>
            </a:endParaRPr>
          </a:p>
          <a:p>
            <a:pPr marL="247015" lvl="1" indent="-228600">
              <a:lnSpc>
                <a:spcPct val="100000"/>
              </a:lnSpc>
              <a:spcBef>
                <a:spcPts val="815"/>
              </a:spcBef>
              <a:buSzPct val="83333"/>
              <a:buFont typeface="Symbol"/>
              <a:buChar char=""/>
              <a:tabLst>
                <a:tab pos="247015" algn="l"/>
              </a:tabLst>
            </a:pPr>
            <a:r>
              <a:rPr sz="1200" dirty="0">
                <a:latin typeface="Times New Roman"/>
                <a:cs typeface="Times New Roman"/>
              </a:rPr>
              <a:t>Identified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spread,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median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outliers</a:t>
            </a:r>
            <a:endParaRPr sz="1200">
              <a:latin typeface="Times New Roman"/>
              <a:cs typeface="Times New Roman"/>
            </a:endParaRPr>
          </a:p>
          <a:p>
            <a:pPr marL="210185" indent="-197485">
              <a:lnSpc>
                <a:spcPct val="100000"/>
              </a:lnSpc>
              <a:spcBef>
                <a:spcPts val="830"/>
              </a:spcBef>
              <a:buAutoNum type="romanLcParenR" startAt="4"/>
              <a:tabLst>
                <a:tab pos="210185" algn="l"/>
              </a:tabLst>
            </a:pPr>
            <a:r>
              <a:rPr sz="1200" b="1" dirty="0">
                <a:latin typeface="Times New Roman"/>
                <a:cs typeface="Times New Roman"/>
              </a:rPr>
              <a:t>Analysis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Results</a:t>
            </a:r>
            <a:endParaRPr sz="1200">
              <a:latin typeface="Times New Roman"/>
              <a:cs typeface="Times New Roman"/>
            </a:endParaRPr>
          </a:p>
          <a:p>
            <a:pPr marL="247650" marR="136525" lvl="1" indent="-229235">
              <a:lnSpc>
                <a:spcPct val="157500"/>
              </a:lnSpc>
              <a:buSzPct val="83333"/>
              <a:buFont typeface="Symbol"/>
              <a:buChar char=""/>
              <a:tabLst>
                <a:tab pos="247650" algn="l"/>
              </a:tabLst>
            </a:pP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counties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exhibited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median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capita values</a:t>
            </a:r>
            <a:endParaRPr sz="1200">
              <a:latin typeface="Times New Roman"/>
              <a:cs typeface="Times New Roman"/>
            </a:endParaRPr>
          </a:p>
          <a:p>
            <a:pPr marL="247015" lvl="1" indent="-228600">
              <a:lnSpc>
                <a:spcPct val="100000"/>
              </a:lnSpc>
              <a:spcBef>
                <a:spcPts val="815"/>
              </a:spcBef>
              <a:buSzPct val="83333"/>
              <a:buFont typeface="Symbol"/>
              <a:buChar char=""/>
              <a:tabLst>
                <a:tab pos="247015" algn="l"/>
              </a:tabLst>
            </a:pPr>
            <a:r>
              <a:rPr sz="1200" dirty="0">
                <a:latin typeface="Times New Roman"/>
                <a:cs typeface="Times New Roman"/>
              </a:rPr>
              <a:t>Presence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outliers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uneven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resource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distribution</a:t>
            </a:r>
            <a:endParaRPr sz="1200">
              <a:latin typeface="Times New Roman"/>
              <a:cs typeface="Times New Roman"/>
            </a:endParaRPr>
          </a:p>
          <a:p>
            <a:pPr marL="247650" marR="190500" lvl="1" indent="-229235">
              <a:lnSpc>
                <a:spcPts val="2270"/>
              </a:lnSpc>
              <a:spcBef>
                <a:spcPts val="210"/>
              </a:spcBef>
              <a:buSzPct val="83333"/>
              <a:buFont typeface="Symbol"/>
              <a:buChar char=""/>
              <a:tabLst>
                <a:tab pos="247650" algn="l"/>
              </a:tabLst>
            </a:pPr>
            <a:r>
              <a:rPr sz="1200" spc="-20" dirty="0">
                <a:latin typeface="Times New Roman"/>
                <a:cs typeface="Times New Roman"/>
              </a:rPr>
              <a:t>Variability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suggests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inconsistencies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funding or</a:t>
            </a:r>
            <a:r>
              <a:rPr sz="1200" spc="-10" dirty="0">
                <a:latin typeface="Times New Roman"/>
                <a:cs typeface="Times New Roman"/>
              </a:rPr>
              <a:t> collection policies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200" b="1" dirty="0">
                <a:latin typeface="Times New Roman"/>
                <a:cs typeface="Times New Roman"/>
              </a:rPr>
              <a:t>v)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Visualization</a:t>
            </a:r>
            <a:endParaRPr sz="1200">
              <a:latin typeface="Times New Roman"/>
              <a:cs typeface="Times New Roman"/>
            </a:endParaRPr>
          </a:p>
          <a:p>
            <a:pPr marL="18415" marR="5080" indent="-6350">
              <a:lnSpc>
                <a:spcPct val="1567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box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plot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effectively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captured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variation,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skewness,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outliers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distribution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counties.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04" y="5581268"/>
            <a:ext cx="1778000" cy="117475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200" dirty="0">
                <a:latin typeface="Times New Roman"/>
                <a:cs typeface="Times New Roman"/>
              </a:rPr>
              <a:t>Regression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Metrics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200" dirty="0">
                <a:latin typeface="Times New Roman"/>
                <a:cs typeface="Times New Roman"/>
              </a:rPr>
              <a:t>MAE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45651.58654838799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200" dirty="0">
                <a:latin typeface="Times New Roman"/>
                <a:cs typeface="Times New Roman"/>
              </a:rPr>
              <a:t>MSE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10" dirty="0">
                <a:latin typeface="Times New Roman"/>
                <a:cs typeface="Times New Roman"/>
              </a:rPr>
              <a:t> 5943521627.537629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200" dirty="0">
                <a:latin typeface="Times New Roman"/>
                <a:cs typeface="Times New Roman"/>
              </a:rPr>
              <a:t>RMSE: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77094.23861442324</a:t>
            </a: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798" y="1238059"/>
            <a:ext cx="5178827" cy="4264405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6689216"/>
            <a:ext cx="1953260" cy="96456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Classification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Metrics </a:t>
            </a:r>
            <a:r>
              <a:rPr sz="1200" dirty="0">
                <a:latin typeface="Times New Roman"/>
                <a:cs typeface="Times New Roman"/>
              </a:rPr>
              <a:t>Accuracy: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40" dirty="0">
                <a:latin typeface="Times New Roman"/>
                <a:cs typeface="Times New Roman"/>
              </a:rPr>
              <a:t>0.8611111111111112</a:t>
            </a:r>
            <a:endParaRPr sz="1200">
              <a:latin typeface="Times New Roman"/>
              <a:cs typeface="Times New Roman"/>
            </a:endParaRPr>
          </a:p>
          <a:p>
            <a:pPr marL="50800" marR="802005" indent="-38100">
              <a:lnSpc>
                <a:spcPct val="103299"/>
              </a:lnSpc>
            </a:pPr>
            <a:r>
              <a:rPr sz="1200" dirty="0">
                <a:latin typeface="Times New Roman"/>
                <a:cs typeface="Times New Roman"/>
              </a:rPr>
              <a:t>Confusion </a:t>
            </a:r>
            <a:r>
              <a:rPr sz="1200" spc="-10" dirty="0">
                <a:latin typeface="Times New Roman"/>
                <a:cs typeface="Times New Roman"/>
              </a:rPr>
              <a:t>Matrix: </a:t>
            </a:r>
            <a:r>
              <a:rPr sz="1200" dirty="0">
                <a:latin typeface="Times New Roman"/>
                <a:cs typeface="Times New Roman"/>
              </a:rPr>
              <a:t>[[424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51]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[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79 </a:t>
            </a:r>
            <a:r>
              <a:rPr sz="1200" spc="-10" dirty="0">
                <a:latin typeface="Times New Roman"/>
                <a:cs typeface="Times New Roman"/>
              </a:rPr>
              <a:t>382]]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498" y="1228898"/>
            <a:ext cx="5197127" cy="5197127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7967" y="1566671"/>
            <a:ext cx="4352544" cy="33588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6356" y="3008418"/>
            <a:ext cx="219710" cy="4838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95"/>
              </a:lnSpc>
            </a:pPr>
            <a:r>
              <a:rPr sz="1350" spc="-95" dirty="0">
                <a:solidFill>
                  <a:srgbClr val="313131"/>
                </a:solidFill>
                <a:latin typeface="Courier New"/>
                <a:cs typeface="Courier New"/>
              </a:rPr>
              <a:t>V</a:t>
            </a:r>
            <a:r>
              <a:rPr sz="1350" spc="-830" dirty="0">
                <a:solidFill>
                  <a:srgbClr val="313131"/>
                </a:solidFill>
                <a:latin typeface="Courier New"/>
                <a:cs typeface="Courier New"/>
              </a:rPr>
              <a:t>V</a:t>
            </a:r>
            <a:r>
              <a:rPr sz="1350" spc="-85" dirty="0">
                <a:solidFill>
                  <a:srgbClr val="313131"/>
                </a:solidFill>
                <a:latin typeface="Courier New"/>
                <a:cs typeface="Courier New"/>
              </a:rPr>
              <a:t>C</a:t>
            </a:r>
            <a:r>
              <a:rPr sz="1350" spc="-434" dirty="0">
                <a:solidFill>
                  <a:srgbClr val="313131"/>
                </a:solidFill>
                <a:latin typeface="Courier New"/>
                <a:cs typeface="Courier New"/>
              </a:rPr>
              <a:t> </a:t>
            </a:r>
            <a:r>
              <a:rPr sz="1350" spc="25" dirty="0">
                <a:solidFill>
                  <a:srgbClr val="313131"/>
                </a:solidFill>
                <a:latin typeface="Courier New"/>
                <a:cs typeface="Courier New"/>
              </a:rPr>
              <a:t>SS</a:t>
            </a:r>
            <a:endParaRPr sz="135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0351" y="7787640"/>
            <a:ext cx="97536" cy="853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4736" y="7940040"/>
            <a:ext cx="97536" cy="76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36135" y="5172455"/>
            <a:ext cx="57912" cy="1005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62600" y="5172455"/>
            <a:ext cx="57912" cy="1005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1519" y="6251447"/>
            <a:ext cx="134111" cy="10667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92615" y="2008377"/>
            <a:ext cx="27749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35" dirty="0">
                <a:solidFill>
                  <a:srgbClr val="4F4F4F"/>
                </a:solidFill>
                <a:latin typeface="Cambria"/>
                <a:cs typeface="Cambria"/>
              </a:rPr>
              <a:t>8000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2959" y="2791967"/>
            <a:ext cx="2749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95" dirty="0">
                <a:solidFill>
                  <a:srgbClr val="383838"/>
                </a:solidFill>
                <a:latin typeface="Arial MT"/>
                <a:cs typeface="Arial MT"/>
              </a:rPr>
              <a:t>@O0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9694" y="3578605"/>
            <a:ext cx="2806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80" dirty="0">
                <a:solidFill>
                  <a:srgbClr val="4D4D4D"/>
                </a:solidFill>
                <a:latin typeface="Arial MT"/>
                <a:cs typeface="Arial MT"/>
              </a:rPr>
              <a:t>4000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6393" y="4349495"/>
            <a:ext cx="2711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25" dirty="0">
                <a:solidFill>
                  <a:srgbClr val="242424"/>
                </a:solidFill>
                <a:latin typeface="Arial MT"/>
                <a:cs typeface="Arial MT"/>
              </a:rPr>
              <a:t>2000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1295" y="6701535"/>
            <a:ext cx="19812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70" dirty="0">
                <a:solidFill>
                  <a:srgbClr val="1A1A1A"/>
                </a:solidFill>
                <a:latin typeface="Courier New"/>
                <a:cs typeface="Courier New"/>
              </a:rPr>
              <a:t>10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6225" y="7253985"/>
            <a:ext cx="367030" cy="2341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2B2B2B"/>
                </a:solidFill>
                <a:latin typeface="Consolas"/>
                <a:cs typeface="Consolas"/>
              </a:rPr>
              <a:t>%</a:t>
            </a:r>
            <a:r>
              <a:rPr sz="1150" spc="150" dirty="0">
                <a:solidFill>
                  <a:srgbClr val="2B2B2B"/>
                </a:solidFill>
                <a:latin typeface="Consolas"/>
                <a:cs typeface="Consolas"/>
              </a:rPr>
              <a:t> </a:t>
            </a:r>
            <a:r>
              <a:rPr sz="1150" spc="-35" dirty="0">
                <a:solidFill>
                  <a:srgbClr val="3D3D3D"/>
                </a:solidFill>
                <a:latin typeface="Consolas"/>
                <a:cs typeface="Consolas"/>
              </a:rPr>
              <a:t>08</a:t>
            </a:r>
            <a:endParaRPr sz="11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1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150">
              <a:latin typeface="Consolas"/>
              <a:cs typeface="Consolas"/>
            </a:endParaRPr>
          </a:p>
          <a:p>
            <a:pPr marL="194310">
              <a:lnSpc>
                <a:spcPct val="100000"/>
              </a:lnSpc>
            </a:pPr>
            <a:r>
              <a:rPr sz="1050" spc="-60" dirty="0">
                <a:solidFill>
                  <a:srgbClr val="232323"/>
                </a:solidFill>
                <a:latin typeface="Arial MT"/>
                <a:cs typeface="Arial MT"/>
              </a:rPr>
              <a:t>0.6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050">
              <a:latin typeface="Arial MT"/>
              <a:cs typeface="Arial MT"/>
            </a:endParaRPr>
          </a:p>
          <a:p>
            <a:pPr marL="193675">
              <a:lnSpc>
                <a:spcPct val="100000"/>
              </a:lnSpc>
            </a:pPr>
            <a:r>
              <a:rPr sz="1200" spc="-25" dirty="0">
                <a:solidFill>
                  <a:srgbClr val="161616"/>
                </a:solidFill>
                <a:latin typeface="Arial MT"/>
                <a:cs typeface="Arial MT"/>
              </a:rPr>
              <a:t>04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00">
              <a:latin typeface="Arial MT"/>
              <a:cs typeface="Arial MT"/>
            </a:endParaRPr>
          </a:p>
          <a:p>
            <a:pPr marL="196215">
              <a:lnSpc>
                <a:spcPct val="100000"/>
              </a:lnSpc>
            </a:pPr>
            <a:r>
              <a:rPr sz="1200" spc="-100" dirty="0">
                <a:solidFill>
                  <a:srgbClr val="2D2D2D"/>
                </a:solidFill>
                <a:latin typeface="Cambria"/>
                <a:cs typeface="Cambria"/>
              </a:rPr>
              <a:t>0.2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1200">
              <a:latin typeface="Cambria"/>
              <a:cs typeface="Cambria"/>
            </a:endParaRPr>
          </a:p>
          <a:p>
            <a:pPr marL="186690">
              <a:lnSpc>
                <a:spcPct val="100000"/>
              </a:lnSpc>
              <a:spcBef>
                <a:spcPts val="5"/>
              </a:spcBef>
            </a:pPr>
            <a:r>
              <a:rPr sz="1300" spc="-90" dirty="0">
                <a:solidFill>
                  <a:srgbClr val="1A1A1A"/>
                </a:solidFill>
                <a:latin typeface="Courier New"/>
                <a:cs typeface="Courier New"/>
              </a:rPr>
              <a:t>DO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3497" y="5684011"/>
            <a:ext cx="216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0" dirty="0">
                <a:latin typeface="Arial MT"/>
                <a:cs typeface="Arial MT"/>
              </a:rPr>
              <a:t>1e7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46151" y="5117591"/>
            <a:ext cx="946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5D5D5D"/>
                </a:solidFill>
                <a:latin typeface="Arial MT"/>
                <a:cs typeface="Arial MT"/>
              </a:rPr>
              <a:t>1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63200" y="5098541"/>
            <a:ext cx="9969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60" dirty="0">
                <a:solidFill>
                  <a:srgbClr val="1C1C1C"/>
                </a:solidFill>
                <a:latin typeface="Consolas"/>
                <a:cs typeface="Consolas"/>
              </a:rPr>
              <a:t>2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30051" y="1188211"/>
            <a:ext cx="16059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5" dirty="0">
                <a:solidFill>
                  <a:srgbClr val="151515"/>
                </a:solidFill>
                <a:latin typeface="Arial MT"/>
                <a:cs typeface="Arial MT"/>
              </a:rPr>
              <a:t>Elbow</a:t>
            </a:r>
            <a:r>
              <a:rPr sz="1200" spc="3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200" spc="-110" dirty="0">
                <a:solidFill>
                  <a:srgbClr val="2F2F2F"/>
                </a:solidFill>
                <a:latin typeface="Arial MT"/>
                <a:cs typeface="Arial MT"/>
              </a:rPr>
              <a:t>Method</a:t>
            </a:r>
            <a:r>
              <a:rPr sz="1200" spc="4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for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90" dirty="0">
                <a:latin typeface="Arial MT"/>
                <a:cs typeface="Arial MT"/>
              </a:rPr>
              <a:t>K-Means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78163" y="5098541"/>
            <a:ext cx="9906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65" dirty="0">
                <a:solidFill>
                  <a:srgbClr val="6B6B6B"/>
                </a:solidFill>
                <a:latin typeface="Consolas"/>
                <a:cs typeface="Consolas"/>
              </a:rPr>
              <a:t>3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53002" y="5106881"/>
            <a:ext cx="1153795" cy="39878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22225" algn="ctr">
              <a:lnSpc>
                <a:spcPct val="100000"/>
              </a:lnSpc>
              <a:spcBef>
                <a:spcPts val="185"/>
              </a:spcBef>
            </a:pPr>
            <a:r>
              <a:rPr sz="1100" spc="-50" dirty="0">
                <a:latin typeface="Arial MT"/>
                <a:cs typeface="Arial MT"/>
              </a:rPr>
              <a:t>4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200" spc="-105" dirty="0">
                <a:solidFill>
                  <a:srgbClr val="151515"/>
                </a:solidFill>
                <a:latin typeface="Arial MT"/>
                <a:cs typeface="Arial MT"/>
              </a:rPr>
              <a:t>Number</a:t>
            </a:r>
            <a:r>
              <a:rPr sz="1200" spc="7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200" spc="-114" dirty="0">
                <a:solidFill>
                  <a:srgbClr val="181818"/>
                </a:solidFill>
                <a:latin typeface="Arial MT"/>
                <a:cs typeface="Arial MT"/>
              </a:rPr>
              <a:t>of</a:t>
            </a:r>
            <a:r>
              <a:rPr sz="1200" spc="-2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200" spc="-65" dirty="0">
                <a:solidFill>
                  <a:srgbClr val="181818"/>
                </a:solidFill>
                <a:latin typeface="Arial MT"/>
                <a:cs typeface="Arial MT"/>
              </a:rPr>
              <a:t>Clusters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06927" y="5631687"/>
            <a:ext cx="220853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25" dirty="0">
                <a:solidFill>
                  <a:srgbClr val="1C1C1C"/>
                </a:solidFill>
                <a:latin typeface="Arial MT"/>
                <a:cs typeface="Arial MT"/>
              </a:rPr>
              <a:t>Library</a:t>
            </a:r>
            <a:r>
              <a:rPr sz="1300" spc="6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300" spc="-165" dirty="0">
                <a:solidFill>
                  <a:srgbClr val="1F1F1F"/>
                </a:solidFill>
                <a:latin typeface="Arial MT"/>
                <a:cs typeface="Arial MT"/>
              </a:rPr>
              <a:t>Segmentation</a:t>
            </a:r>
            <a:r>
              <a:rPr sz="1300" spc="1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300" spc="-140" dirty="0">
                <a:solidFill>
                  <a:srgbClr val="242424"/>
                </a:solidFill>
                <a:latin typeface="Arial MT"/>
                <a:cs typeface="Arial MT"/>
              </a:rPr>
              <a:t>using</a:t>
            </a:r>
            <a:r>
              <a:rPr sz="1300" spc="4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300" spc="-155" dirty="0">
                <a:solidFill>
                  <a:srgbClr val="1A1A1A"/>
                </a:solidFill>
                <a:latin typeface="Arial MT"/>
                <a:cs typeface="Arial MT"/>
              </a:rPr>
              <a:t>K-</a:t>
            </a:r>
            <a:r>
              <a:rPr sz="1300" spc="-125" dirty="0">
                <a:solidFill>
                  <a:srgbClr val="1A1A1A"/>
                </a:solidFill>
                <a:latin typeface="Arial MT"/>
                <a:cs typeface="Arial MT"/>
              </a:rPr>
              <a:t>Means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27896" y="5111241"/>
            <a:ext cx="9652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50" dirty="0">
                <a:solidFill>
                  <a:srgbClr val="414141"/>
                </a:solidFill>
                <a:latin typeface="Consolas"/>
                <a:cs typeface="Consolas"/>
              </a:rPr>
              <a:t>6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12443" y="5922602"/>
            <a:ext cx="445134" cy="46355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R="24765" algn="r">
              <a:lnSpc>
                <a:spcPct val="100000"/>
              </a:lnSpc>
              <a:spcBef>
                <a:spcPts val="275"/>
              </a:spcBef>
            </a:pPr>
            <a:r>
              <a:rPr sz="1400" spc="-180" dirty="0">
                <a:solidFill>
                  <a:srgbClr val="181818"/>
                </a:solidFill>
                <a:latin typeface="Arial MT"/>
                <a:cs typeface="Arial MT"/>
              </a:rPr>
              <a:t>Cluster</a:t>
            </a:r>
            <a:endParaRPr sz="14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55"/>
              </a:spcBef>
            </a:pPr>
            <a:r>
              <a:rPr sz="1200" spc="-50" dirty="0">
                <a:solidFill>
                  <a:srgbClr val="4D4D4D"/>
                </a:solidFill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45574" y="9732009"/>
            <a:ext cx="8890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95" dirty="0">
                <a:solidFill>
                  <a:srgbClr val="626262"/>
                </a:solidFill>
                <a:latin typeface="Arial MT"/>
                <a:cs typeface="Arial MT"/>
              </a:rPr>
              <a:t>0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10605" y="9732009"/>
            <a:ext cx="2760980" cy="405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0075" algn="l"/>
                <a:tab pos="1203325" algn="l"/>
                <a:tab pos="1804035" algn="l"/>
                <a:tab pos="2362835" algn="l"/>
              </a:tabLst>
            </a:pPr>
            <a:r>
              <a:rPr sz="1150" spc="-10" dirty="0">
                <a:latin typeface="Arial MT"/>
                <a:cs typeface="Arial MT"/>
              </a:rPr>
              <a:t>20000</a:t>
            </a:r>
            <a:r>
              <a:rPr sz="1150" dirty="0">
                <a:latin typeface="Arial MT"/>
                <a:cs typeface="Arial MT"/>
              </a:rPr>
              <a:t>	</a:t>
            </a:r>
            <a:r>
              <a:rPr sz="1150" spc="-10" dirty="0">
                <a:solidFill>
                  <a:srgbClr val="595959"/>
                </a:solidFill>
                <a:latin typeface="Arial MT"/>
                <a:cs typeface="Arial MT"/>
              </a:rPr>
              <a:t>40000</a:t>
            </a:r>
            <a:r>
              <a:rPr sz="1150" dirty="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sz="1150" spc="-20" dirty="0">
                <a:solidFill>
                  <a:srgbClr val="2A2A2A"/>
                </a:solidFill>
                <a:latin typeface="Arial MT"/>
                <a:cs typeface="Arial MT"/>
              </a:rPr>
              <a:t>@00O</a:t>
            </a:r>
            <a:r>
              <a:rPr sz="1150" dirty="0">
                <a:solidFill>
                  <a:srgbClr val="2A2A2A"/>
                </a:solidFill>
                <a:latin typeface="Arial MT"/>
                <a:cs typeface="Arial MT"/>
              </a:rPr>
              <a:t>	</a:t>
            </a:r>
            <a:r>
              <a:rPr sz="1150" spc="-20" dirty="0">
                <a:solidFill>
                  <a:srgbClr val="4B4B4B"/>
                </a:solidFill>
                <a:latin typeface="Arial MT"/>
                <a:cs typeface="Arial MT"/>
              </a:rPr>
              <a:t>@00O</a:t>
            </a:r>
            <a:r>
              <a:rPr sz="1150" dirty="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sz="1150" spc="-130" dirty="0">
                <a:solidFill>
                  <a:srgbClr val="414141"/>
                </a:solidFill>
                <a:latin typeface="Arial MT"/>
                <a:cs typeface="Arial MT"/>
              </a:rPr>
              <a:t>100000</a:t>
            </a:r>
            <a:endParaRPr sz="1150">
              <a:latin typeface="Arial MT"/>
              <a:cs typeface="Arial MT"/>
            </a:endParaRPr>
          </a:p>
          <a:p>
            <a:pPr marL="1012825">
              <a:lnSpc>
                <a:spcPct val="100000"/>
              </a:lnSpc>
              <a:spcBef>
                <a:spcPts val="55"/>
              </a:spcBef>
            </a:pPr>
            <a:r>
              <a:rPr sz="1300" spc="-145" dirty="0">
                <a:solidFill>
                  <a:srgbClr val="1A1A1A"/>
                </a:solidFill>
                <a:latin typeface="Arial MT"/>
                <a:cs typeface="Arial MT"/>
              </a:rPr>
              <a:t>Population</a:t>
            </a:r>
            <a:r>
              <a:rPr sz="130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300" spc="-125" dirty="0">
                <a:solidFill>
                  <a:srgbClr val="242424"/>
                </a:solidFill>
                <a:latin typeface="Arial MT"/>
                <a:cs typeface="Arial MT"/>
              </a:rPr>
              <a:t>of</a:t>
            </a:r>
            <a:r>
              <a:rPr sz="1300" spc="-1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300" spc="-145" dirty="0">
                <a:solidFill>
                  <a:srgbClr val="2D2D2D"/>
                </a:solidFill>
                <a:latin typeface="Arial MT"/>
                <a:cs typeface="Arial MT"/>
              </a:rPr>
              <a:t>Service</a:t>
            </a:r>
            <a:r>
              <a:rPr sz="1300" spc="-5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1F1F1F"/>
                </a:solidFill>
                <a:latin typeface="Arial MT"/>
                <a:cs typeface="Arial MT"/>
              </a:rPr>
              <a:t>Area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61683" y="9732009"/>
            <a:ext cx="1010919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775" algn="l"/>
              </a:tabLst>
            </a:pPr>
            <a:r>
              <a:rPr sz="1150" spc="-10" dirty="0">
                <a:latin typeface="Arial MT"/>
                <a:cs typeface="Arial MT"/>
              </a:rPr>
              <a:t>120000</a:t>
            </a:r>
            <a:r>
              <a:rPr sz="1150" dirty="0">
                <a:latin typeface="Arial MT"/>
                <a:cs typeface="Arial MT"/>
              </a:rPr>
              <a:t>	</a:t>
            </a:r>
            <a:r>
              <a:rPr sz="1150" spc="-130" dirty="0">
                <a:solidFill>
                  <a:srgbClr val="161616"/>
                </a:solidFill>
                <a:latin typeface="Arial MT"/>
                <a:cs typeface="Arial MT"/>
              </a:rPr>
              <a:t>140000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653872" y="6576567"/>
            <a:ext cx="9906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90" dirty="0">
                <a:solidFill>
                  <a:srgbClr val="131313"/>
                </a:solidFill>
                <a:latin typeface="Consolas"/>
                <a:cs typeface="Consolas"/>
              </a:rPr>
              <a:t>2</a:t>
            </a:r>
            <a:endParaRPr sz="1300">
              <a:latin typeface="Consolas"/>
              <a:cs typeface="Consolas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5756528"/>
            <a:ext cx="5598795" cy="77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Cross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Validation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Scores: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0.69031998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0.73339492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0.80341633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0.8810454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-0.60228442]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spc="-20" dirty="0">
                <a:latin typeface="Times New Roman"/>
                <a:cs typeface="Times New Roman"/>
              </a:rPr>
              <a:t>Average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CV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Score: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0.501178444296955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259" y="1231899"/>
            <a:ext cx="5465010" cy="449580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1304530"/>
            <a:ext cx="5578475" cy="7855584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600" b="1" dirty="0">
                <a:latin typeface="Arial"/>
                <a:cs typeface="Arial"/>
              </a:rPr>
              <a:t>5.</a:t>
            </a:r>
            <a:r>
              <a:rPr sz="1600" b="1" spc="-95" dirty="0">
                <a:latin typeface="Arial"/>
                <a:cs typeface="Arial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Source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Code</a:t>
            </a: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85"/>
              </a:spcBef>
            </a:pPr>
            <a:r>
              <a:rPr sz="1200" dirty="0">
                <a:latin typeface="Times New Roman"/>
                <a:cs typeface="Times New Roman"/>
              </a:rPr>
              <a:t># INT234 </a:t>
            </a:r>
            <a:r>
              <a:rPr sz="1200" spc="-10" dirty="0">
                <a:latin typeface="Times New Roman"/>
                <a:cs typeface="Times New Roman"/>
              </a:rPr>
              <a:t>PREDICTIVE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ANALYTICS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PROJECT</a:t>
            </a:r>
            <a:endParaRPr sz="1200">
              <a:latin typeface="Times New Roman"/>
              <a:cs typeface="Times New Roman"/>
            </a:endParaRPr>
          </a:p>
          <a:p>
            <a:pPr marL="12700" marR="3928745">
              <a:lnSpc>
                <a:spcPct val="103299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Public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Libraries </a:t>
            </a: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Concepts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Covered:</a:t>
            </a:r>
            <a:endParaRPr sz="1200">
              <a:latin typeface="Times New Roman"/>
              <a:cs typeface="Times New Roman"/>
            </a:endParaRPr>
          </a:p>
          <a:p>
            <a:pPr marL="12700" marR="3390265">
              <a:lnSpc>
                <a:spcPct val="103299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Preparation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EDA </a:t>
            </a: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-10" dirty="0">
                <a:latin typeface="Times New Roman"/>
                <a:cs typeface="Times New Roman"/>
              </a:rPr>
              <a:t> Evaluation </a:t>
            </a: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III: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Classification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Metrics </a:t>
            </a: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IV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Clustering</a:t>
            </a:r>
            <a:r>
              <a:rPr sz="1200" spc="-10" dirty="0">
                <a:latin typeface="Times New Roman"/>
                <a:cs typeface="Times New Roman"/>
              </a:rPr>
              <a:t> (K-Means)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PCA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Cross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Validation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10" dirty="0">
                <a:latin typeface="Times New Roman"/>
                <a:cs typeface="Times New Roman"/>
              </a:rPr>
              <a:t> STEP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IMPORT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LIBRARIES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4333875">
              <a:lnSpc>
                <a:spcPct val="103299"/>
              </a:lnSpc>
            </a:pP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pandas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pd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numpy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np</a:t>
            </a:r>
            <a:endParaRPr sz="1200">
              <a:latin typeface="Times New Roman"/>
              <a:cs typeface="Times New Roman"/>
            </a:endParaRPr>
          </a:p>
          <a:p>
            <a:pPr marL="12700" marR="3696335">
              <a:lnSpc>
                <a:spcPct val="103299"/>
              </a:lnSpc>
            </a:pP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matplotlib.pyplot</a:t>
            </a:r>
            <a:r>
              <a:rPr sz="1200" dirty="0">
                <a:latin typeface="Times New Roman"/>
                <a:cs typeface="Times New Roman"/>
              </a:rPr>
              <a:t> as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plt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seaborn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sns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130935">
              <a:lnSpc>
                <a:spcPct val="103299"/>
              </a:lnSpc>
            </a:pP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sklearn.model_selection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train_test_split,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cross_val_score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sklearn.linear_model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LinearRegression,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LogisticRegression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sklearn.metrics</a:t>
            </a:r>
            <a:r>
              <a:rPr sz="1200" dirty="0">
                <a:latin typeface="Times New Roman"/>
                <a:cs typeface="Times New Roman"/>
              </a:rPr>
              <a:t> import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(</a:t>
            </a:r>
            <a:endParaRPr sz="1200">
              <a:latin typeface="Times New Roman"/>
              <a:cs typeface="Times New Roman"/>
            </a:endParaRPr>
          </a:p>
          <a:p>
            <a:pPr marL="165100" marR="2165350">
              <a:lnSpc>
                <a:spcPct val="103299"/>
              </a:lnSpc>
            </a:pPr>
            <a:r>
              <a:rPr sz="1200" spc="-10" dirty="0">
                <a:latin typeface="Times New Roman"/>
                <a:cs typeface="Times New Roman"/>
              </a:rPr>
              <a:t>mean_absolute_error,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mean_squared_error,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r2_score, accuracy_score,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confusion_matrix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spc="-5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 marL="12700" marR="2494280">
              <a:lnSpc>
                <a:spcPct val="103299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sklearn.preprocessing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StandardScaler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sklearn.cluster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KMeans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sklearn.decomposition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PCA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441575">
              <a:lnSpc>
                <a:spcPct val="103299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Seaborn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theme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BEAUTIFUL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plots sns.set_theme(style="whitegrid",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palette="viridis")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3296920">
              <a:lnSpc>
                <a:spcPct val="103299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# </a:t>
            </a:r>
            <a:r>
              <a:rPr sz="1200" spc="-10" dirty="0">
                <a:latin typeface="Times New Roman"/>
                <a:cs typeface="Times New Roman"/>
              </a:rPr>
              <a:t>========================= </a:t>
            </a: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STEP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LOAD</a:t>
            </a:r>
            <a:r>
              <a:rPr sz="1200" spc="-10" dirty="0">
                <a:latin typeface="Times New Roman"/>
                <a:cs typeface="Times New Roman"/>
              </a:rPr>
              <a:t> DATASET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200" dirty="0">
                <a:latin typeface="Times New Roman"/>
                <a:cs typeface="Times New Roman"/>
              </a:rPr>
              <a:t># </a:t>
            </a:r>
            <a:r>
              <a:rPr sz="1200" spc="-10" dirty="0">
                <a:latin typeface="Times New Roman"/>
                <a:cs typeface="Times New Roman"/>
              </a:rPr>
              <a:t>=========================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dirty="0">
                <a:latin typeface="Times New Roman"/>
                <a:cs typeface="Times New Roman"/>
              </a:rPr>
              <a:t>df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pd.read_csv("C:/Users/Dell/OneDrive/Documents/Public_Libraries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(1)_Cleaned.csv")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3547110">
              <a:lnSpc>
                <a:spcPct val="103299"/>
              </a:lnSpc>
              <a:spcBef>
                <a:spcPts val="5"/>
              </a:spcBef>
            </a:pPr>
            <a:r>
              <a:rPr sz="1200" spc="-10" dirty="0">
                <a:latin typeface="Times New Roman"/>
                <a:cs typeface="Times New Roman"/>
              </a:rPr>
              <a:t>print("Dataset</a:t>
            </a:r>
            <a:r>
              <a:rPr sz="1200" dirty="0">
                <a:latin typeface="Times New Roman"/>
                <a:cs typeface="Times New Roman"/>
              </a:rPr>
              <a:t> Shape:",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df.shape) print(df.info())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latin typeface="Times New Roman"/>
                <a:cs typeface="Times New Roman"/>
              </a:rPr>
              <a:t>print(df.head())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4064635">
              <a:lnSpc>
                <a:spcPct val="103299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values </a:t>
            </a:r>
            <a:r>
              <a:rPr sz="1200" dirty="0">
                <a:latin typeface="Times New Roman"/>
                <a:cs typeface="Times New Roman"/>
              </a:rPr>
              <a:t>df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df.dropna()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1889505"/>
            <a:ext cx="5034280" cy="8241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# </a:t>
            </a:r>
            <a:r>
              <a:rPr sz="1200" spc="-10" dirty="0">
                <a:latin typeface="Times New Roman"/>
                <a:cs typeface="Times New Roman"/>
              </a:rPr>
              <a:t>========================================================= </a:t>
            </a: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OBJECTIVE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1: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65" dirty="0">
                <a:latin typeface="Times New Roman"/>
                <a:cs typeface="Times New Roman"/>
              </a:rPr>
              <a:t>DATA </a:t>
            </a:r>
            <a:r>
              <a:rPr sz="1200" spc="-10" dirty="0">
                <a:latin typeface="Times New Roman"/>
                <a:cs typeface="Times New Roman"/>
              </a:rPr>
              <a:t>UNDERSTANDING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10" dirty="0">
                <a:latin typeface="Times New Roman"/>
                <a:cs typeface="Times New Roman"/>
              </a:rPr>
              <a:t> EDA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(UNIT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# </a:t>
            </a:r>
            <a:r>
              <a:rPr sz="1200" spc="-10" dirty="0">
                <a:latin typeface="Times New Roman"/>
                <a:cs typeface="Times New Roman"/>
              </a:rPr>
              <a:t>=========================================================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531620">
              <a:lnSpc>
                <a:spcPct val="107500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235" dirty="0">
                <a:latin typeface="Segoe UI Emoji"/>
                <a:cs typeface="Segoe UI Emoji"/>
              </a:rPr>
              <a:t>🔹</a:t>
            </a:r>
            <a:r>
              <a:rPr sz="1200" spc="-65" dirty="0">
                <a:latin typeface="Segoe UI Emoji"/>
                <a:cs typeface="Segoe UI Emoji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Visualization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1: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Population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Total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Visits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(Scatter) plt.figure(figsize=(8,5))</a:t>
            </a:r>
            <a:endParaRPr sz="1200">
              <a:latin typeface="Times New Roman"/>
              <a:cs typeface="Times New Roman"/>
            </a:endParaRPr>
          </a:p>
          <a:p>
            <a:pPr marL="165100" marR="4095115" indent="-152400">
              <a:lnSpc>
                <a:spcPts val="1490"/>
              </a:lnSpc>
              <a:spcBef>
                <a:spcPts val="60"/>
              </a:spcBef>
            </a:pPr>
            <a:r>
              <a:rPr sz="1200" spc="-10" dirty="0">
                <a:latin typeface="Times New Roman"/>
                <a:cs typeface="Times New Roman"/>
              </a:rPr>
              <a:t>sns.scatterplot( data=df,</a:t>
            </a:r>
            <a:endParaRPr sz="1200">
              <a:latin typeface="Times New Roman"/>
              <a:cs typeface="Times New Roman"/>
            </a:endParaRPr>
          </a:p>
          <a:p>
            <a:pPr marL="165100" marR="2892425">
              <a:lnSpc>
                <a:spcPts val="1490"/>
              </a:lnSpc>
            </a:pPr>
            <a:r>
              <a:rPr sz="1200" dirty="0">
                <a:latin typeface="Times New Roman"/>
                <a:cs typeface="Times New Roman"/>
              </a:rPr>
              <a:t>x="Population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Service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Area", y="Total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Visits", alpha=0.6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25"/>
              </a:lnSpc>
            </a:pPr>
            <a:r>
              <a:rPr sz="1200" spc="-5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 marL="12700" marR="2294890">
              <a:lnSpc>
                <a:spcPct val="103299"/>
              </a:lnSpc>
            </a:pPr>
            <a:r>
              <a:rPr sz="1200" spc="-10" dirty="0">
                <a:latin typeface="Times New Roman"/>
                <a:cs typeface="Times New Roman"/>
              </a:rPr>
              <a:t>plt.title("Population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vs </a:t>
            </a:r>
            <a:r>
              <a:rPr sz="1200" spc="-20" dirty="0">
                <a:latin typeface="Times New Roman"/>
                <a:cs typeface="Times New Roman"/>
              </a:rPr>
              <a:t>Total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Visits") plt.tight_layout()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latin typeface="Times New Roman"/>
                <a:cs typeface="Times New Roman"/>
              </a:rPr>
              <a:t>plt.show()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324610">
              <a:lnSpc>
                <a:spcPct val="106700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235" dirty="0">
                <a:latin typeface="Segoe UI Emoji"/>
                <a:cs typeface="Segoe UI Emoji"/>
              </a:rPr>
              <a:t>🔹</a:t>
            </a:r>
            <a:r>
              <a:rPr sz="1200" spc="-70" dirty="0">
                <a:latin typeface="Segoe UI Emoji"/>
                <a:cs typeface="Segoe UI Emoji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Visualization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Population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Borrowers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(Regression) plt.figure(figsize=(8,5))</a:t>
            </a:r>
            <a:endParaRPr sz="1200">
              <a:latin typeface="Times New Roman"/>
              <a:cs typeface="Times New Roman"/>
            </a:endParaRPr>
          </a:p>
          <a:p>
            <a:pPr marL="165100" marR="4297680" indent="-152400">
              <a:lnSpc>
                <a:spcPts val="1490"/>
              </a:lnSpc>
              <a:spcBef>
                <a:spcPts val="60"/>
              </a:spcBef>
            </a:pPr>
            <a:r>
              <a:rPr sz="1200" spc="-10" dirty="0">
                <a:latin typeface="Times New Roman"/>
                <a:cs typeface="Times New Roman"/>
              </a:rPr>
              <a:t>sns.regplot( data=df,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ts val="1430"/>
              </a:lnSpc>
            </a:pPr>
            <a:r>
              <a:rPr sz="1200" dirty="0">
                <a:latin typeface="Times New Roman"/>
                <a:cs typeface="Times New Roman"/>
              </a:rPr>
              <a:t>x="Population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Service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Area",</a:t>
            </a:r>
            <a:endParaRPr sz="1200">
              <a:latin typeface="Times New Roman"/>
              <a:cs typeface="Times New Roman"/>
            </a:endParaRPr>
          </a:p>
          <a:p>
            <a:pPr marL="165100" marR="2853690">
              <a:lnSpc>
                <a:spcPct val="103299"/>
              </a:lnSpc>
              <a:spcBef>
                <a:spcPts val="10"/>
              </a:spcBef>
            </a:pPr>
            <a:r>
              <a:rPr sz="1200" spc="-10" dirty="0">
                <a:latin typeface="Times New Roman"/>
                <a:cs typeface="Times New Roman"/>
              </a:rPr>
              <a:t>y="Total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Registered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Borrowers", scatter_kws={"alpha":0.5}, line_kws={"color":"red"}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spc="-5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 marL="12700" marR="2148205">
              <a:lnSpc>
                <a:spcPct val="103299"/>
              </a:lnSpc>
            </a:pPr>
            <a:r>
              <a:rPr sz="1200" spc="-10" dirty="0">
                <a:latin typeface="Times New Roman"/>
                <a:cs typeface="Times New Roman"/>
              </a:rPr>
              <a:t>plt.title("Population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Registered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Borrowers") plt.tight_layout()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latin typeface="Times New Roman"/>
                <a:cs typeface="Times New Roman"/>
              </a:rPr>
              <a:t>plt.show()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945515">
              <a:lnSpc>
                <a:spcPct val="107500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235" dirty="0">
                <a:latin typeface="Segoe UI Emoji"/>
                <a:cs typeface="Segoe UI Emoji"/>
              </a:rPr>
              <a:t>🔹</a:t>
            </a:r>
            <a:r>
              <a:rPr sz="1200" spc="-80" dirty="0">
                <a:latin typeface="Segoe UI Emoji"/>
                <a:cs typeface="Segoe UI Emoji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Visualization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3: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Expenditure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(Bar) </a:t>
            </a:r>
            <a:r>
              <a:rPr sz="1200" dirty="0">
                <a:latin typeface="Times New Roman"/>
                <a:cs typeface="Times New Roman"/>
              </a:rPr>
              <a:t>avg_exp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(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sz="1200" spc="-10" dirty="0">
                <a:latin typeface="Times New Roman"/>
                <a:cs typeface="Times New Roman"/>
              </a:rPr>
              <a:t>df.groupby("County")["Operating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Expenditures"]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sz="1200" spc="-10" dirty="0">
                <a:latin typeface="Times New Roman"/>
                <a:cs typeface="Times New Roman"/>
              </a:rPr>
              <a:t>.mean()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latin typeface="Times New Roman"/>
                <a:cs typeface="Times New Roman"/>
              </a:rPr>
              <a:t>.sort_values(ascending=False)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sz="1200" spc="-10" dirty="0">
                <a:latin typeface="Times New Roman"/>
                <a:cs typeface="Times New Roman"/>
              </a:rPr>
              <a:t>.head(10)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spc="-5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012314">
              <a:lnSpc>
                <a:spcPct val="103299"/>
              </a:lnSpc>
            </a:pPr>
            <a:r>
              <a:rPr sz="1200" spc="-10" dirty="0">
                <a:latin typeface="Times New Roman"/>
                <a:cs typeface="Times New Roman"/>
              </a:rPr>
              <a:t>plt.figure(figsize=(9,5)) sns.barplot(x=avg_exp.index,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y=avg_exp.values) plt.xticks(rotation=45,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ha="right")</a:t>
            </a:r>
            <a:endParaRPr sz="1200">
              <a:latin typeface="Times New Roman"/>
              <a:cs typeface="Times New Roman"/>
            </a:endParaRPr>
          </a:p>
          <a:p>
            <a:pPr marL="12700" marR="1176020">
              <a:lnSpc>
                <a:spcPct val="103299"/>
              </a:lnSpc>
            </a:pPr>
            <a:r>
              <a:rPr sz="1200" spc="-10" dirty="0">
                <a:latin typeface="Times New Roman"/>
                <a:cs typeface="Times New Roman"/>
              </a:rPr>
              <a:t>plt.title("Average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Expenditure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(Top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10)") plt.tight_layout()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latin typeface="Times New Roman"/>
                <a:cs typeface="Times New Roman"/>
              </a:rPr>
              <a:t>plt.show()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1141222"/>
            <a:ext cx="3427729" cy="4798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0835">
              <a:lnSpc>
                <a:spcPct val="1075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235" dirty="0">
                <a:latin typeface="Segoe UI Emoji"/>
                <a:cs typeface="Segoe UI Emoji"/>
              </a:rPr>
              <a:t>🔹</a:t>
            </a:r>
            <a:r>
              <a:rPr sz="1200" spc="-70" dirty="0">
                <a:latin typeface="Segoe UI Emoji"/>
                <a:cs typeface="Segoe UI Emoji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Visualization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4: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Counties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Visits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(Pie) </a:t>
            </a:r>
            <a:r>
              <a:rPr sz="1200" dirty="0">
                <a:latin typeface="Times New Roman"/>
                <a:cs typeface="Times New Roman"/>
              </a:rPr>
              <a:t>top_visits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(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latin typeface="Times New Roman"/>
                <a:cs typeface="Times New Roman"/>
              </a:rPr>
              <a:t>df.groupby("County")["Total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Library Visits"]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sz="1200" spc="-10" dirty="0">
                <a:latin typeface="Times New Roman"/>
                <a:cs typeface="Times New Roman"/>
              </a:rPr>
              <a:t>.sum()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latin typeface="Times New Roman"/>
                <a:cs typeface="Times New Roman"/>
              </a:rPr>
              <a:t>.sort_values(ascending=False)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sz="1200" spc="-10" dirty="0">
                <a:latin typeface="Times New Roman"/>
                <a:cs typeface="Times New Roman"/>
              </a:rPr>
              <a:t>.head(5)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spc="-5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958975">
              <a:lnSpc>
                <a:spcPct val="103299"/>
              </a:lnSpc>
            </a:pPr>
            <a:r>
              <a:rPr sz="1200" spc="-10" dirty="0">
                <a:latin typeface="Times New Roman"/>
                <a:cs typeface="Times New Roman"/>
              </a:rPr>
              <a:t>plt.figure(figsize=(6,6)) plt.pie(</a:t>
            </a:r>
            <a:endParaRPr sz="1200">
              <a:latin typeface="Times New Roman"/>
              <a:cs typeface="Times New Roman"/>
            </a:endParaRPr>
          </a:p>
          <a:p>
            <a:pPr marL="165100" marR="1804670">
              <a:lnSpc>
                <a:spcPct val="103400"/>
              </a:lnSpc>
            </a:pPr>
            <a:r>
              <a:rPr sz="1200" spc="-10" dirty="0">
                <a:latin typeface="Times New Roman"/>
                <a:cs typeface="Times New Roman"/>
              </a:rPr>
              <a:t>top_visits, labels=top_visits.index, autopct="%1.1f%%", startangle=140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200" spc="-5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 marL="12700" marR="515620">
              <a:lnSpc>
                <a:spcPct val="103299"/>
              </a:lnSpc>
            </a:pPr>
            <a:r>
              <a:rPr sz="1200" spc="-10" dirty="0">
                <a:latin typeface="Times New Roman"/>
                <a:cs typeface="Times New Roman"/>
              </a:rPr>
              <a:t>plt.title("Top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Counties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Visits") plt.tight_layout()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spc="-10" dirty="0">
                <a:latin typeface="Times New Roman"/>
                <a:cs typeface="Times New Roman"/>
              </a:rPr>
              <a:t>plt.show()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60325">
              <a:lnSpc>
                <a:spcPct val="106700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235" dirty="0">
                <a:latin typeface="Segoe UI Emoji"/>
                <a:cs typeface="Segoe UI Emoji"/>
              </a:rPr>
              <a:t>🔹</a:t>
            </a:r>
            <a:r>
              <a:rPr sz="1200" spc="-70" dirty="0">
                <a:latin typeface="Segoe UI Emoji"/>
                <a:cs typeface="Segoe UI Emoji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Visualization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5: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Capita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(Box</a:t>
            </a:r>
            <a:r>
              <a:rPr sz="1200" spc="-10" dirty="0">
                <a:latin typeface="Times New Roman"/>
                <a:cs typeface="Times New Roman"/>
              </a:rPr>
              <a:t> Plot) plt.figure(figsize=(6,5))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03400"/>
              </a:lnSpc>
            </a:pPr>
            <a:r>
              <a:rPr sz="1200" spc="-10" dirty="0">
                <a:latin typeface="Times New Roman"/>
                <a:cs typeface="Times New Roman"/>
              </a:rPr>
              <a:t>sns.boxplot(y="Collection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Capita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Served",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data=df) plt.title("Collection</a:t>
            </a:r>
            <a:r>
              <a:rPr sz="1200" dirty="0">
                <a:latin typeface="Times New Roman"/>
                <a:cs typeface="Times New Roman"/>
              </a:rPr>
              <a:t> Per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Capita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Distribution") plt.tight_layout()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spc="-10" dirty="0">
                <a:latin typeface="Times New Roman"/>
                <a:cs typeface="Times New Roman"/>
              </a:rPr>
              <a:t>plt.show()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1511553"/>
            <a:ext cx="5034280" cy="74256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# </a:t>
            </a:r>
            <a:r>
              <a:rPr sz="1200" spc="-10" dirty="0">
                <a:latin typeface="Times New Roman"/>
                <a:cs typeface="Times New Roman"/>
              </a:rPr>
              <a:t>========================================================= </a:t>
            </a: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(UNIT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II)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# </a:t>
            </a:r>
            <a:r>
              <a:rPr sz="1200" spc="-10" dirty="0">
                <a:latin typeface="Times New Roman"/>
                <a:cs typeface="Times New Roman"/>
              </a:rPr>
              <a:t>=========================================================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3808095" algn="just">
              <a:lnSpc>
                <a:spcPct val="103299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Target </a:t>
            </a:r>
            <a:r>
              <a:rPr sz="1200" dirty="0">
                <a:latin typeface="Times New Roman"/>
                <a:cs typeface="Times New Roman"/>
              </a:rPr>
              <a:t>X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df[[</a:t>
            </a:r>
            <a:endParaRPr sz="1200">
              <a:latin typeface="Times New Roman"/>
              <a:cs typeface="Times New Roman"/>
            </a:endParaRPr>
          </a:p>
          <a:p>
            <a:pPr marL="165100" marR="3016885" algn="just">
              <a:lnSpc>
                <a:spcPct val="103299"/>
              </a:lnSpc>
            </a:pPr>
            <a:r>
              <a:rPr sz="1200" dirty="0">
                <a:latin typeface="Times New Roman"/>
                <a:cs typeface="Times New Roman"/>
              </a:rPr>
              <a:t>"Population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Service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Area", "Total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Registered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Borrowers", </a:t>
            </a:r>
            <a:r>
              <a:rPr sz="1200" dirty="0">
                <a:latin typeface="Times New Roman"/>
                <a:cs typeface="Times New Roman"/>
              </a:rPr>
              <a:t>"Operating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Expenditures"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spc="-25" dirty="0">
                <a:latin typeface="Times New Roman"/>
                <a:cs typeface="Times New Roman"/>
              </a:rPr>
              <a:t>]]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df["Total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Visits"]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Train-</a:t>
            </a:r>
            <a:r>
              <a:rPr sz="1200" spc="-10" dirty="0">
                <a:latin typeface="Times New Roman"/>
                <a:cs typeface="Times New Roman"/>
              </a:rPr>
              <a:t>Test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Split</a:t>
            </a:r>
            <a:endParaRPr sz="1200">
              <a:latin typeface="Times New Roman"/>
              <a:cs typeface="Times New Roman"/>
            </a:endParaRPr>
          </a:p>
          <a:p>
            <a:pPr marL="165100" marR="2006600" indent="-152400">
              <a:lnSpc>
                <a:spcPct val="103299"/>
              </a:lnSpc>
            </a:pPr>
            <a:r>
              <a:rPr sz="1200" dirty="0">
                <a:latin typeface="Times New Roman"/>
                <a:cs typeface="Times New Roman"/>
              </a:rPr>
              <a:t>X_train,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X_test,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y_train,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y_test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train_test_split( </a:t>
            </a:r>
            <a:r>
              <a:rPr sz="1200" dirty="0">
                <a:latin typeface="Times New Roman"/>
                <a:cs typeface="Times New Roman"/>
              </a:rPr>
              <a:t>X,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test_size=0.2,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random_state=42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spc="-5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</a:t>
            </a:r>
            <a:endParaRPr sz="1200">
              <a:latin typeface="Times New Roman"/>
              <a:cs typeface="Times New Roman"/>
            </a:endParaRPr>
          </a:p>
          <a:p>
            <a:pPr marL="12700" marR="3023235">
              <a:lnSpc>
                <a:spcPct val="103299"/>
              </a:lnSpc>
            </a:pPr>
            <a:r>
              <a:rPr sz="1200" dirty="0">
                <a:latin typeface="Times New Roman"/>
                <a:cs typeface="Times New Roman"/>
              </a:rPr>
              <a:t>reg_model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LinearRegression() reg_model.fit(X_train,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y_train)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# </a:t>
            </a:r>
            <a:r>
              <a:rPr sz="1200" spc="-10" dirty="0">
                <a:latin typeface="Times New Roman"/>
                <a:cs typeface="Times New Roman"/>
              </a:rPr>
              <a:t>Prediction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y_pred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reg_model.predict(X_test)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3199130">
              <a:lnSpc>
                <a:spcPct val="103299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Metrics print("\nRegression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Metrics")</a:t>
            </a:r>
            <a:endParaRPr sz="1200">
              <a:latin typeface="Times New Roman"/>
              <a:cs typeface="Times New Roman"/>
            </a:endParaRPr>
          </a:p>
          <a:p>
            <a:pPr marL="12700" marR="1229360">
              <a:lnSpc>
                <a:spcPct val="103299"/>
              </a:lnSpc>
            </a:pPr>
            <a:r>
              <a:rPr sz="1200" dirty="0">
                <a:latin typeface="Times New Roman"/>
                <a:cs typeface="Times New Roman"/>
              </a:rPr>
              <a:t>print("MAE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:",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mean_absolute_error(y_test,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y_pred)) </a:t>
            </a:r>
            <a:r>
              <a:rPr sz="1200" dirty="0">
                <a:latin typeface="Times New Roman"/>
                <a:cs typeface="Times New Roman"/>
              </a:rPr>
              <a:t>print("MSE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:",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mean_squared_error(y_test,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y_pred)) </a:t>
            </a:r>
            <a:r>
              <a:rPr sz="1200" dirty="0">
                <a:latin typeface="Times New Roman"/>
                <a:cs typeface="Times New Roman"/>
              </a:rPr>
              <a:t>print("RMSE:",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np.sqrt(mean_squared_error(y_test,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y_pred))) </a:t>
            </a:r>
            <a:r>
              <a:rPr sz="1200" dirty="0">
                <a:latin typeface="Times New Roman"/>
                <a:cs typeface="Times New Roman"/>
              </a:rPr>
              <a:t>print("R2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:",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r2_score(y_test,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y_pred))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175510">
              <a:lnSpc>
                <a:spcPct val="104400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235" dirty="0">
                <a:latin typeface="Segoe UI Emoji"/>
                <a:cs typeface="Segoe UI Emoji"/>
              </a:rPr>
              <a:t>🔹</a:t>
            </a:r>
            <a:r>
              <a:rPr sz="1200" spc="-105" dirty="0">
                <a:latin typeface="Segoe UI Emoji"/>
                <a:cs typeface="Segoe UI Emoji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Actual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Predicted plt.figure(figsize=(6,6)) sns.scatterplot(x=y_test,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y=y_pred,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alpha=0.6) plt.xlabel("Actual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Visits")</a:t>
            </a:r>
            <a:r>
              <a:rPr sz="1200" spc="5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plt.ylabel("Predicted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Visits")</a:t>
            </a:r>
            <a:endParaRPr sz="1200">
              <a:latin typeface="Times New Roman"/>
              <a:cs typeface="Times New Roman"/>
            </a:endParaRPr>
          </a:p>
          <a:p>
            <a:pPr marL="12700" marR="2282190">
              <a:lnSpc>
                <a:spcPct val="103299"/>
              </a:lnSpc>
            </a:pPr>
            <a:r>
              <a:rPr sz="1200" spc="-10" dirty="0">
                <a:latin typeface="Times New Roman"/>
                <a:cs typeface="Times New Roman"/>
              </a:rPr>
              <a:t>plt.title("Actual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Visits") plt.tight_layout()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spc="-10" dirty="0">
                <a:latin typeface="Times New Roman"/>
                <a:cs typeface="Times New Roman"/>
              </a:rPr>
              <a:t>plt.show()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3023361"/>
            <a:ext cx="5034280" cy="512762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3499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# </a:t>
            </a:r>
            <a:r>
              <a:rPr sz="1200" spc="-10" dirty="0">
                <a:latin typeface="Times New Roman"/>
                <a:cs typeface="Times New Roman"/>
              </a:rPr>
              <a:t>========================================================= </a:t>
            </a:r>
            <a:r>
              <a:rPr sz="1200" dirty="0">
                <a:latin typeface="Times New Roman"/>
                <a:cs typeface="Times New Roman"/>
              </a:rPr>
              <a:t># OBJECTIVE 3: </a:t>
            </a:r>
            <a:r>
              <a:rPr sz="1200" spc="-20" dirty="0">
                <a:latin typeface="Times New Roman"/>
                <a:cs typeface="Times New Roman"/>
              </a:rPr>
              <a:t>CLASSIFICATION</a:t>
            </a:r>
            <a:r>
              <a:rPr sz="1200" dirty="0">
                <a:latin typeface="Times New Roman"/>
                <a:cs typeface="Times New Roman"/>
              </a:rPr>
              <a:t> (UNIT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III)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200" dirty="0">
                <a:latin typeface="Times New Roman"/>
                <a:cs typeface="Times New Roman"/>
              </a:rPr>
              <a:t># </a:t>
            </a:r>
            <a:r>
              <a:rPr sz="1200" spc="-10" dirty="0">
                <a:latin typeface="Times New Roman"/>
                <a:cs typeface="Times New Roman"/>
              </a:rPr>
              <a:t>=========================================================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Binary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Target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latin typeface="Times New Roman"/>
                <a:cs typeface="Times New Roman"/>
              </a:rPr>
              <a:t>df["Usage_Level"]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(df["Total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Visits"]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&gt;</a:t>
            </a:r>
            <a:endParaRPr sz="1200">
              <a:latin typeface="Times New Roman"/>
              <a:cs typeface="Times New Roman"/>
            </a:endParaRPr>
          </a:p>
          <a:p>
            <a:pPr marL="812800">
              <a:lnSpc>
                <a:spcPct val="100000"/>
              </a:lnSpc>
              <a:spcBef>
                <a:spcPts val="50"/>
              </a:spcBef>
            </a:pPr>
            <a:r>
              <a:rPr sz="1200" spc="-10" dirty="0">
                <a:latin typeface="Times New Roman"/>
                <a:cs typeface="Times New Roman"/>
              </a:rPr>
              <a:t>df["Total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Visits"].median()).astype(int)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743585">
              <a:lnSpc>
                <a:spcPct val="103299"/>
              </a:lnSpc>
            </a:pPr>
            <a:r>
              <a:rPr sz="1200" dirty="0">
                <a:latin typeface="Times New Roman"/>
                <a:cs typeface="Times New Roman"/>
              </a:rPr>
              <a:t>X_cls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df[["Population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Service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Area",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"Operating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Expenditures"]] </a:t>
            </a:r>
            <a:r>
              <a:rPr sz="1200" dirty="0">
                <a:latin typeface="Times New Roman"/>
                <a:cs typeface="Times New Roman"/>
              </a:rPr>
              <a:t>y_cls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df["Usage_Level"]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# </a:t>
            </a:r>
            <a:r>
              <a:rPr sz="1200" spc="-10" dirty="0">
                <a:latin typeface="Times New Roman"/>
                <a:cs typeface="Times New Roman"/>
              </a:rPr>
              <a:t>Split</a:t>
            </a:r>
            <a:endParaRPr sz="1200">
              <a:latin typeface="Times New Roman"/>
              <a:cs typeface="Times New Roman"/>
            </a:endParaRPr>
          </a:p>
          <a:p>
            <a:pPr marL="165100" marR="2006600" indent="-152400">
              <a:lnSpc>
                <a:spcPts val="150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X_train,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X_test,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y_train,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y_test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train_test_split( </a:t>
            </a:r>
            <a:r>
              <a:rPr sz="1200" dirty="0">
                <a:latin typeface="Times New Roman"/>
                <a:cs typeface="Times New Roman"/>
              </a:rPr>
              <a:t>X_cls,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y_cls,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test_size=0.2,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random_state=42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30"/>
              </a:lnSpc>
            </a:pPr>
            <a:r>
              <a:rPr sz="1200" spc="-5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Logistic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Regression</a:t>
            </a:r>
            <a:endParaRPr sz="1200">
              <a:latin typeface="Times New Roman"/>
              <a:cs typeface="Times New Roman"/>
            </a:endParaRPr>
          </a:p>
          <a:p>
            <a:pPr marL="12700" marR="2481580">
              <a:lnSpc>
                <a:spcPct val="103299"/>
              </a:lnSpc>
            </a:pPr>
            <a:r>
              <a:rPr sz="1200" dirty="0">
                <a:latin typeface="Times New Roman"/>
                <a:cs typeface="Times New Roman"/>
              </a:rPr>
              <a:t>clf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LogisticRegression(max_iter=1000) clf.fit(X_train,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y_train)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# </a:t>
            </a:r>
            <a:r>
              <a:rPr sz="1200" spc="-10" dirty="0">
                <a:latin typeface="Times New Roman"/>
                <a:cs typeface="Times New Roman"/>
              </a:rPr>
              <a:t>Prediction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y_pred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clf.predict(X_test)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3039110">
              <a:lnSpc>
                <a:spcPct val="104200"/>
              </a:lnSpc>
            </a:pPr>
            <a:r>
              <a:rPr sz="1200" dirty="0">
                <a:latin typeface="Times New Roman"/>
                <a:cs typeface="Times New Roman"/>
              </a:rPr>
              <a:t># </a:t>
            </a:r>
            <a:r>
              <a:rPr sz="1200" spc="-10" dirty="0">
                <a:latin typeface="Times New Roman"/>
                <a:cs typeface="Times New Roman"/>
              </a:rPr>
              <a:t>Metrics</a:t>
            </a:r>
            <a:r>
              <a:rPr sz="1200" spc="5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print("\nClassification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Metrics")</a:t>
            </a:r>
            <a:endParaRPr sz="1200">
              <a:latin typeface="Times New Roman"/>
              <a:cs typeface="Times New Roman"/>
            </a:endParaRPr>
          </a:p>
          <a:p>
            <a:pPr marL="12700" marR="1135380">
              <a:lnSpc>
                <a:spcPct val="103299"/>
              </a:lnSpc>
              <a:spcBef>
                <a:spcPts val="5"/>
              </a:spcBef>
            </a:pPr>
            <a:r>
              <a:rPr sz="1200" spc="-10" dirty="0">
                <a:latin typeface="Times New Roman"/>
                <a:cs typeface="Times New Roman"/>
              </a:rPr>
              <a:t>print("Accuracy:",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accuracy_score(y_test,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y_pred)) </a:t>
            </a:r>
            <a:r>
              <a:rPr sz="1200" dirty="0">
                <a:latin typeface="Times New Roman"/>
                <a:cs typeface="Times New Roman"/>
              </a:rPr>
              <a:t>print("Confusion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Matrix:\n",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confusion_matrix(y_test,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y_pred))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1511553"/>
            <a:ext cx="5034280" cy="777303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# </a:t>
            </a:r>
            <a:r>
              <a:rPr sz="1200" spc="-10" dirty="0">
                <a:latin typeface="Times New Roman"/>
                <a:cs typeface="Times New Roman"/>
              </a:rPr>
              <a:t>========================================================= </a:t>
            </a: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OBJECTIVE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4:</a:t>
            </a:r>
            <a:r>
              <a:rPr sz="1200" spc="-10" dirty="0">
                <a:latin typeface="Times New Roman"/>
                <a:cs typeface="Times New Roman"/>
              </a:rPr>
              <a:t> CLUSTERING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(UNIT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IV)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# </a:t>
            </a:r>
            <a:r>
              <a:rPr sz="1200" spc="-10" dirty="0">
                <a:latin typeface="Times New Roman"/>
                <a:cs typeface="Times New Roman"/>
              </a:rPr>
              <a:t>=========================================================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# </a:t>
            </a:r>
            <a:r>
              <a:rPr sz="1200" spc="-10" dirty="0">
                <a:latin typeface="Times New Roman"/>
                <a:cs typeface="Times New Roman"/>
              </a:rPr>
              <a:t>Scaling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scaler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StandardScaler()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200" dirty="0">
                <a:latin typeface="Times New Roman"/>
                <a:cs typeface="Times New Roman"/>
              </a:rPr>
              <a:t>X_scaled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scaler.fit_transform(X_cls)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3990340">
              <a:lnSpc>
                <a:spcPct val="103499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Elbow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Method </a:t>
            </a:r>
            <a:r>
              <a:rPr sz="1200" dirty="0">
                <a:latin typeface="Times New Roman"/>
                <a:cs typeface="Times New Roman"/>
              </a:rPr>
              <a:t>wcss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[]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range(1,8):</a:t>
            </a:r>
            <a:endParaRPr sz="1200">
              <a:latin typeface="Times New Roman"/>
              <a:cs typeface="Times New Roman"/>
            </a:endParaRPr>
          </a:p>
          <a:p>
            <a:pPr marL="165100" marR="1700530">
              <a:lnSpc>
                <a:spcPct val="103299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kmeans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KMeans(n_clusters=k,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random_state=42) kmeans.fit(X_scaled)</a:t>
            </a:r>
            <a:r>
              <a:rPr sz="1200" spc="5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wcss.append(kmeans.inertia_)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093595">
              <a:lnSpc>
                <a:spcPct val="103299"/>
              </a:lnSpc>
            </a:pPr>
            <a:r>
              <a:rPr sz="1200" spc="-10" dirty="0">
                <a:latin typeface="Times New Roman"/>
                <a:cs typeface="Times New Roman"/>
              </a:rPr>
              <a:t>plt.figure(figsize=(7,5)) sns.lineplot(x=range(1,8),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y=wcss,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marker="o") plt.xlabel("Number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Clusters") plt.ylabel("WCSS")</a:t>
            </a:r>
            <a:endParaRPr sz="1200">
              <a:latin typeface="Times New Roman"/>
              <a:cs typeface="Times New Roman"/>
            </a:endParaRPr>
          </a:p>
          <a:p>
            <a:pPr marL="12700" marR="2620010">
              <a:lnSpc>
                <a:spcPct val="103299"/>
              </a:lnSpc>
            </a:pPr>
            <a:r>
              <a:rPr sz="1200" spc="-10" dirty="0">
                <a:latin typeface="Times New Roman"/>
                <a:cs typeface="Times New Roman"/>
              </a:rPr>
              <a:t>plt.title("Elbow </a:t>
            </a:r>
            <a:r>
              <a:rPr sz="1200" dirty="0">
                <a:latin typeface="Times New Roman"/>
                <a:cs typeface="Times New Roman"/>
              </a:rPr>
              <a:t>Method for</a:t>
            </a:r>
            <a:r>
              <a:rPr sz="1200" spc="-10" dirty="0">
                <a:latin typeface="Times New Roman"/>
                <a:cs typeface="Times New Roman"/>
              </a:rPr>
              <a:t> K-Means") plt.tight_layout()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200" spc="-10" dirty="0">
                <a:latin typeface="Times New Roman"/>
                <a:cs typeface="Times New Roman"/>
              </a:rPr>
              <a:t>plt.show()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K-</a:t>
            </a:r>
            <a:r>
              <a:rPr sz="1200" spc="-20" dirty="0">
                <a:latin typeface="Times New Roman"/>
                <a:cs typeface="Times New Roman"/>
              </a:rPr>
              <a:t>Means</a:t>
            </a:r>
            <a:endParaRPr sz="1200">
              <a:latin typeface="Times New Roman"/>
              <a:cs typeface="Times New Roman"/>
            </a:endParaRPr>
          </a:p>
          <a:p>
            <a:pPr marL="12700" marR="1852295">
              <a:lnSpc>
                <a:spcPct val="103299"/>
              </a:lnSpc>
            </a:pPr>
            <a:r>
              <a:rPr sz="1200" dirty="0">
                <a:latin typeface="Times New Roman"/>
                <a:cs typeface="Times New Roman"/>
              </a:rPr>
              <a:t>kmeans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KMeans(n_clusters=3,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random_state=42) </a:t>
            </a:r>
            <a:r>
              <a:rPr sz="1200" dirty="0">
                <a:latin typeface="Times New Roman"/>
                <a:cs typeface="Times New Roman"/>
              </a:rPr>
              <a:t>df["Cluster"]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kmeans.fit_predict(X_scaled)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3565525">
              <a:lnSpc>
                <a:spcPct val="103299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Visualization plt.figure(figsize=(7,5)) sns.scatterplot(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latin typeface="Times New Roman"/>
                <a:cs typeface="Times New Roman"/>
              </a:rPr>
              <a:t>data=df,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x="Population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Service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Area",</a:t>
            </a:r>
            <a:endParaRPr sz="1200">
              <a:latin typeface="Times New Roman"/>
              <a:cs typeface="Times New Roman"/>
            </a:endParaRPr>
          </a:p>
          <a:p>
            <a:pPr marL="165100" marR="3086100">
              <a:lnSpc>
                <a:spcPct val="1034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y="Operating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Expenditures", hue="Cluster",</a:t>
            </a:r>
            <a:r>
              <a:rPr sz="1200" spc="5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palette="Set2"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spc="-5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044700">
              <a:lnSpc>
                <a:spcPct val="103299"/>
              </a:lnSpc>
            </a:pPr>
            <a:r>
              <a:rPr sz="1200" spc="-10" dirty="0">
                <a:latin typeface="Times New Roman"/>
                <a:cs typeface="Times New Roman"/>
              </a:rPr>
              <a:t>plt.title("Library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Segmentation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K-Means") plt.tight_layout()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spc="-10" dirty="0">
                <a:latin typeface="Times New Roman"/>
                <a:cs typeface="Times New Roman"/>
              </a:rPr>
              <a:t>plt.show()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834385"/>
            <a:ext cx="5034280" cy="380301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# </a:t>
            </a:r>
            <a:r>
              <a:rPr sz="1200" spc="-10" dirty="0">
                <a:latin typeface="Times New Roman"/>
                <a:cs typeface="Times New Roman"/>
              </a:rPr>
              <a:t>========================================================= </a:t>
            </a: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OBJECTIVE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PCA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(UNIT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VI)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# </a:t>
            </a:r>
            <a:r>
              <a:rPr sz="1200" spc="-10" dirty="0">
                <a:latin typeface="Times New Roman"/>
                <a:cs typeface="Times New Roman"/>
              </a:rPr>
              <a:t>=========================================================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# </a:t>
            </a:r>
            <a:r>
              <a:rPr sz="1200" spc="-25" dirty="0">
                <a:latin typeface="Times New Roman"/>
                <a:cs typeface="Times New Roman"/>
              </a:rPr>
              <a:t>PCA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pca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PCA(n_components=2)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200" dirty="0">
                <a:latin typeface="Times New Roman"/>
                <a:cs typeface="Times New Roman"/>
              </a:rPr>
              <a:t>pca_result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pca.fit_transform(X_scaled)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875155">
              <a:lnSpc>
                <a:spcPct val="103299"/>
              </a:lnSpc>
            </a:pPr>
            <a:r>
              <a:rPr sz="1200" spc="-10" dirty="0">
                <a:latin typeface="Times New Roman"/>
                <a:cs typeface="Times New Roman"/>
              </a:rPr>
              <a:t>plt.figure(figsize=(7,5)) sns.scatterplot(x=pca_result[:,0],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y=pca_result[:,1]) plt.xlabel("Principal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Component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1")</a:t>
            </a:r>
            <a:endParaRPr sz="1200">
              <a:latin typeface="Times New Roman"/>
              <a:cs typeface="Times New Roman"/>
            </a:endParaRPr>
          </a:p>
          <a:p>
            <a:pPr marL="12700" marR="2306320">
              <a:lnSpc>
                <a:spcPct val="103299"/>
              </a:lnSpc>
            </a:pPr>
            <a:r>
              <a:rPr sz="1200" spc="-10" dirty="0">
                <a:latin typeface="Times New Roman"/>
                <a:cs typeface="Times New Roman"/>
              </a:rPr>
              <a:t>plt.ylabel("Principal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Component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2") </a:t>
            </a:r>
            <a:r>
              <a:rPr sz="1200" spc="-10" dirty="0">
                <a:latin typeface="Times New Roman"/>
                <a:cs typeface="Times New Roman"/>
              </a:rPr>
              <a:t>plt.title("PCA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Dimensionality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Reduction") plt.tight_layout()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spc="-10" dirty="0">
                <a:latin typeface="Times New Roman"/>
                <a:cs typeface="Times New Roman"/>
              </a:rPr>
              <a:t>plt.show()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Cross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Validation</a:t>
            </a:r>
            <a:endParaRPr sz="1200">
              <a:latin typeface="Times New Roman"/>
              <a:cs typeface="Times New Roman"/>
            </a:endParaRPr>
          </a:p>
          <a:p>
            <a:pPr marL="12700" marR="1812925">
              <a:lnSpc>
                <a:spcPct val="103299"/>
              </a:lnSpc>
            </a:pPr>
            <a:r>
              <a:rPr sz="1200" dirty="0">
                <a:latin typeface="Times New Roman"/>
                <a:cs typeface="Times New Roman"/>
              </a:rPr>
              <a:t>cv_scores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cross_val_score(reg_model,</a:t>
            </a:r>
            <a:r>
              <a:rPr sz="1200" dirty="0">
                <a:latin typeface="Times New Roman"/>
                <a:cs typeface="Times New Roman"/>
              </a:rPr>
              <a:t> X, y, </a:t>
            </a:r>
            <a:r>
              <a:rPr sz="1200" spc="-20" dirty="0">
                <a:latin typeface="Times New Roman"/>
                <a:cs typeface="Times New Roman"/>
              </a:rPr>
              <a:t>cv=5) </a:t>
            </a:r>
            <a:r>
              <a:rPr sz="1200" spc="-10" dirty="0">
                <a:latin typeface="Times New Roman"/>
                <a:cs typeface="Times New Roman"/>
              </a:rPr>
              <a:t>print("\nCross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Validation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Scores:",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cv_scores) </a:t>
            </a:r>
            <a:r>
              <a:rPr sz="1200" spc="-20" dirty="0">
                <a:latin typeface="Times New Roman"/>
                <a:cs typeface="Times New Roman"/>
              </a:rPr>
              <a:t>print("Average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CV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Score:",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cv_scores.mean())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651" y="1356105"/>
            <a:ext cx="6829425" cy="3832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95"/>
              </a:spcBef>
              <a:buAutoNum type="arabicPeriod" startAt="6"/>
              <a:tabLst>
                <a:tab pos="220979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Conclusion</a:t>
            </a:r>
            <a:endParaRPr sz="1600">
              <a:latin typeface="Times New Roman"/>
              <a:cs typeface="Times New Roman"/>
            </a:endParaRPr>
          </a:p>
          <a:p>
            <a:pPr marL="27940" marR="8255" indent="-6350" algn="just">
              <a:lnSpc>
                <a:spcPts val="1430"/>
              </a:lnSpc>
              <a:spcBef>
                <a:spcPts val="994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provided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comprehensive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exploration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public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services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various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counties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using </a:t>
            </a:r>
            <a:r>
              <a:rPr sz="1200" dirty="0">
                <a:latin typeface="Times New Roman"/>
                <a:cs typeface="Times New Roman"/>
              </a:rPr>
              <a:t>realworld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U.S.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government’s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Data.gov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portal.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systematic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Exploratory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 </a:t>
            </a:r>
            <a:r>
              <a:rPr sz="1200" dirty="0">
                <a:latin typeface="Times New Roman"/>
                <a:cs typeface="Times New Roman"/>
              </a:rPr>
              <a:t>(EDA),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drawn:</a:t>
            </a:r>
            <a:endParaRPr sz="1200">
              <a:latin typeface="Times New Roman"/>
              <a:cs typeface="Times New Roman"/>
            </a:endParaRPr>
          </a:p>
          <a:p>
            <a:pPr marL="384175" marR="6350" lvl="1" indent="-226060" algn="just">
              <a:lnSpc>
                <a:spcPts val="1430"/>
              </a:lnSpc>
              <a:spcBef>
                <a:spcPts val="1315"/>
              </a:spcBef>
              <a:buSzPct val="83333"/>
              <a:buFont typeface="Arial MT"/>
              <a:buChar char="•"/>
              <a:tabLst>
                <a:tab pos="387350" algn="l"/>
              </a:tabLst>
            </a:pPr>
            <a:r>
              <a:rPr sz="1200" b="1" dirty="0">
                <a:latin typeface="Times New Roman"/>
                <a:cs typeface="Times New Roman"/>
              </a:rPr>
              <a:t>Population</a:t>
            </a:r>
            <a:r>
              <a:rPr sz="1200" b="1" spc="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Correlation: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strong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positive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correlation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population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service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area 	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total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visits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number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registered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borrowers.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This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suggests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libraries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more 	</a:t>
            </a:r>
            <a:r>
              <a:rPr sz="1200" dirty="0">
                <a:latin typeface="Times New Roman"/>
                <a:cs typeface="Times New Roman"/>
              </a:rPr>
              <a:t>populated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people,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though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utilization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additional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factors.</a:t>
            </a:r>
            <a:endParaRPr sz="1200">
              <a:latin typeface="Times New Roman"/>
              <a:cs typeface="Times New Roman"/>
            </a:endParaRPr>
          </a:p>
          <a:p>
            <a:pPr marL="384175" marR="5715" lvl="1" indent="-226060" algn="just">
              <a:lnSpc>
                <a:spcPct val="99300"/>
              </a:lnSpc>
              <a:spcBef>
                <a:spcPts val="10"/>
              </a:spcBef>
              <a:buSzPct val="83333"/>
              <a:buFont typeface="Arial MT"/>
              <a:buChar char="•"/>
              <a:tabLst>
                <a:tab pos="387350" algn="l"/>
              </a:tabLst>
            </a:pPr>
            <a:r>
              <a:rPr sz="1200" b="1" dirty="0">
                <a:latin typeface="Times New Roman"/>
                <a:cs typeface="Times New Roman"/>
              </a:rPr>
              <a:t>Resource</a:t>
            </a:r>
            <a:r>
              <a:rPr sz="1200" b="1" spc="19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Allocation:</a:t>
            </a:r>
            <a:r>
              <a:rPr sz="1200" b="1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variation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exists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operating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expenditures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counties.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Some 	</a:t>
            </a:r>
            <a:r>
              <a:rPr sz="1200" dirty="0">
                <a:latin typeface="Times New Roman"/>
                <a:cs typeface="Times New Roman"/>
              </a:rPr>
              <a:t>counties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invest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considerably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more,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influence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service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quality,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offerings,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	</a:t>
            </a:r>
            <a:r>
              <a:rPr sz="1200" dirty="0">
                <a:latin typeface="Times New Roman"/>
                <a:cs typeface="Times New Roman"/>
              </a:rPr>
              <a:t>community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outreach.</a:t>
            </a:r>
            <a:endParaRPr sz="1200">
              <a:latin typeface="Times New Roman"/>
              <a:cs typeface="Times New Roman"/>
            </a:endParaRPr>
          </a:p>
          <a:p>
            <a:pPr marL="384175" marR="7620" lvl="1" indent="-226060" algn="just">
              <a:lnSpc>
                <a:spcPts val="1430"/>
              </a:lnSpc>
              <a:spcBef>
                <a:spcPts val="114"/>
              </a:spcBef>
              <a:buSzPct val="83333"/>
              <a:buFont typeface="Arial MT"/>
              <a:buChar char="•"/>
              <a:tabLst>
                <a:tab pos="387350" algn="l"/>
              </a:tabLst>
            </a:pPr>
            <a:r>
              <a:rPr sz="1200" b="1" dirty="0">
                <a:latin typeface="Times New Roman"/>
                <a:cs typeface="Times New Roman"/>
              </a:rPr>
              <a:t>Library</a:t>
            </a:r>
            <a:r>
              <a:rPr sz="1200" b="1" spc="204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Engagement:</a:t>
            </a:r>
            <a:r>
              <a:rPr sz="1200" b="1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few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counties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dominate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terms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total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visits,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highlighting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higher 	</a:t>
            </a:r>
            <a:r>
              <a:rPr sz="1200" dirty="0">
                <a:latin typeface="Times New Roman"/>
                <a:cs typeface="Times New Roman"/>
              </a:rPr>
              <a:t>community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engagement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accessibility.</a:t>
            </a:r>
            <a:endParaRPr sz="1200">
              <a:latin typeface="Times New Roman"/>
              <a:cs typeface="Times New Roman"/>
            </a:endParaRPr>
          </a:p>
          <a:p>
            <a:pPr marL="384175" marR="6350" lvl="1" indent="-226060" algn="just">
              <a:lnSpc>
                <a:spcPts val="1430"/>
              </a:lnSpc>
              <a:spcBef>
                <a:spcPts val="55"/>
              </a:spcBef>
              <a:buSzPct val="83333"/>
              <a:buFont typeface="Arial MT"/>
              <a:buChar char="•"/>
              <a:tabLst>
                <a:tab pos="387350" algn="l"/>
              </a:tabLst>
            </a:pPr>
            <a:r>
              <a:rPr sz="1200" b="1" dirty="0">
                <a:latin typeface="Times New Roman"/>
                <a:cs typeface="Times New Roman"/>
              </a:rPr>
              <a:t>Equity</a:t>
            </a:r>
            <a:r>
              <a:rPr sz="1200" b="1" spc="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Access:</a:t>
            </a:r>
            <a:r>
              <a:rPr sz="1200" b="1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distribution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capita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reveals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disparities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counties.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Some 	</a:t>
            </a: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significantly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resources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person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others,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indicating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potential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areas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policy 	</a:t>
            </a:r>
            <a:r>
              <a:rPr sz="1200" dirty="0">
                <a:latin typeface="Times New Roman"/>
                <a:cs typeface="Times New Roman"/>
              </a:rPr>
              <a:t>improvement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reallocation.</a:t>
            </a:r>
            <a:endParaRPr sz="1200">
              <a:latin typeface="Times New Roman"/>
              <a:cs typeface="Times New Roman"/>
            </a:endParaRPr>
          </a:p>
          <a:p>
            <a:pPr marL="27940" marR="5080" indent="-6350" algn="just">
              <a:lnSpc>
                <a:spcPct val="98800"/>
              </a:lnSpc>
              <a:spcBef>
                <a:spcPts val="1285"/>
              </a:spcBef>
            </a:pPr>
            <a:r>
              <a:rPr sz="1200" dirty="0">
                <a:latin typeface="Times New Roman"/>
                <a:cs typeface="Times New Roman"/>
              </a:rPr>
              <a:t>Overall,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emphasizes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importance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data-</a:t>
            </a:r>
            <a:r>
              <a:rPr sz="1200" dirty="0">
                <a:latin typeface="Times New Roman"/>
                <a:cs typeface="Times New Roman"/>
              </a:rPr>
              <a:t>driven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decision-</a:t>
            </a:r>
            <a:r>
              <a:rPr sz="1200" dirty="0">
                <a:latin typeface="Times New Roman"/>
                <a:cs typeface="Times New Roman"/>
              </a:rPr>
              <a:t>making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improving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services.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population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trends,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usage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patterns,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expenditure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gaps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evidence-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planning, </a:t>
            </a:r>
            <a:r>
              <a:rPr sz="1200" dirty="0">
                <a:latin typeface="Times New Roman"/>
                <a:cs typeface="Times New Roman"/>
              </a:rPr>
              <a:t>funding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allocation,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community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engagement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strategies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public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5717145"/>
            <a:ext cx="6902450" cy="1945639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15"/>
              </a:spcBef>
            </a:pPr>
            <a:r>
              <a:rPr sz="1600" b="1" dirty="0">
                <a:latin typeface="Times New Roman"/>
                <a:cs typeface="Times New Roman"/>
              </a:rPr>
              <a:t>7.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Future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Scope</a:t>
            </a:r>
            <a:endParaRPr sz="160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ts val="1430"/>
              </a:lnSpc>
              <a:spcBef>
                <a:spcPts val="140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project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lays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groundwork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advanced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decision-</a:t>
            </a:r>
            <a:r>
              <a:rPr sz="1200" dirty="0">
                <a:latin typeface="Times New Roman"/>
                <a:cs typeface="Times New Roman"/>
              </a:rPr>
              <a:t>making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public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management.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future,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expanded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historical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years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forecast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demands.</a:t>
            </a:r>
            <a:endParaRPr sz="1200">
              <a:latin typeface="Times New Roman"/>
              <a:cs typeface="Times New Roman"/>
            </a:endParaRPr>
          </a:p>
          <a:p>
            <a:pPr marL="18415" marR="6985" indent="-6350" algn="just">
              <a:lnSpc>
                <a:spcPts val="1420"/>
              </a:lnSpc>
              <a:spcBef>
                <a:spcPts val="75"/>
              </a:spcBef>
            </a:pPr>
            <a:r>
              <a:rPr sz="1200" spc="-10" dirty="0">
                <a:latin typeface="Times New Roman"/>
                <a:cs typeface="Times New Roman"/>
              </a:rPr>
              <a:t>Integrating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external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population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growth,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literacy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rates,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internet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penetration,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funding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allocations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offer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deeper,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actionable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insights.</a:t>
            </a:r>
            <a:endParaRPr sz="1200">
              <a:latin typeface="Times New Roman"/>
              <a:cs typeface="Times New Roman"/>
            </a:endParaRPr>
          </a:p>
          <a:p>
            <a:pPr marL="18415" marR="5715" indent="-6350" algn="just">
              <a:lnSpc>
                <a:spcPts val="1430"/>
              </a:lnSpc>
              <a:spcBef>
                <a:spcPts val="70"/>
              </a:spcBef>
            </a:pPr>
            <a:r>
              <a:rPr sz="1200" spc="-10" dirty="0">
                <a:latin typeface="Times New Roman"/>
                <a:cs typeface="Times New Roman"/>
              </a:rPr>
              <a:t>Additionally,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geospatial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service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areas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underserved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regions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optimize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resource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distribution.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analytics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applied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forecast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visitor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counts,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attendance,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budget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needs—</a:t>
            </a:r>
            <a:r>
              <a:rPr sz="1200" dirty="0">
                <a:latin typeface="Times New Roman"/>
                <a:cs typeface="Times New Roman"/>
              </a:rPr>
              <a:t>ultimately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assisting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strategic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planning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policy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formulation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community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engagement.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5459" y="8230602"/>
            <a:ext cx="6840855" cy="178879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215"/>
              </a:spcBef>
            </a:pPr>
            <a:r>
              <a:rPr sz="1600" b="1" dirty="0">
                <a:latin typeface="Times New Roman"/>
                <a:cs typeface="Times New Roman"/>
              </a:rPr>
              <a:t>8.</a:t>
            </a:r>
            <a:r>
              <a:rPr sz="1600" b="1" spc="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References</a:t>
            </a:r>
            <a:endParaRPr sz="1600">
              <a:latin typeface="Times New Roman"/>
              <a:cs typeface="Times New Roman"/>
            </a:endParaRPr>
          </a:p>
          <a:p>
            <a:pPr marL="241300" marR="654685" indent="-228600">
              <a:lnSpc>
                <a:spcPct val="104200"/>
              </a:lnSpc>
              <a:spcBef>
                <a:spcPts val="25"/>
              </a:spcBef>
              <a:buAutoNum type="arabicPlain"/>
              <a:tabLst>
                <a:tab pos="241300" algn="l"/>
                <a:tab pos="292735" algn="l"/>
              </a:tabLst>
            </a:pPr>
            <a:r>
              <a:rPr sz="1200" dirty="0">
                <a:latin typeface="Times New Roman"/>
                <a:cs typeface="Times New Roman"/>
              </a:rPr>
              <a:t>	U.S.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Services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Administration,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“Public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Libraries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Dataset,”</a:t>
            </a:r>
            <a:r>
              <a:rPr sz="1200" spc="-10" dirty="0">
                <a:latin typeface="Times New Roman"/>
                <a:cs typeface="Times New Roman"/>
              </a:rPr>
              <a:t> Data.gov.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[Online].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Available: https://data.gov.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[Accessed: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Apr.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12,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2025].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Font typeface="Times New Roman"/>
              <a:buAutoNum type="arabicPlain"/>
            </a:pPr>
            <a:endParaRPr sz="1200">
              <a:latin typeface="Times New Roman"/>
              <a:cs typeface="Times New Roman"/>
            </a:endParaRPr>
          </a:p>
          <a:p>
            <a:pPr marL="292735" indent="-280035">
              <a:lnSpc>
                <a:spcPct val="100000"/>
              </a:lnSpc>
              <a:spcBef>
                <a:spcPts val="5"/>
              </a:spcBef>
              <a:buAutoNum type="arabicPlain"/>
              <a:tabLst>
                <a:tab pos="292735" algn="l"/>
              </a:tabLst>
            </a:pPr>
            <a:r>
              <a:rPr sz="1200" spc="-55" dirty="0">
                <a:latin typeface="Times New Roman"/>
                <a:cs typeface="Times New Roman"/>
              </a:rPr>
              <a:t>W.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McKinney,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*Python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Analysis*,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Sebastopol,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O'Reilly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Media,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2018.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Font typeface="Times New Roman"/>
              <a:buAutoNum type="arabicPlain"/>
            </a:pPr>
            <a:endParaRPr sz="1200">
              <a:latin typeface="Times New Roman"/>
              <a:cs typeface="Times New Roman"/>
            </a:endParaRPr>
          </a:p>
          <a:p>
            <a:pPr marL="292100" marR="5080" indent="-280035">
              <a:lnSpc>
                <a:spcPts val="1420"/>
              </a:lnSpc>
              <a:buAutoNum type="arabicPlain"/>
              <a:tabLst>
                <a:tab pos="293370" algn="l"/>
              </a:tabLst>
            </a:pPr>
            <a:r>
              <a:rPr sz="1200" dirty="0">
                <a:latin typeface="Times New Roman"/>
                <a:cs typeface="Times New Roman"/>
              </a:rPr>
              <a:t>J.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D.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Hunter,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“Matplotlib: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Graphics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Environment,”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*Computing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Science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Engineering*,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vol.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9, 	</a:t>
            </a:r>
            <a:r>
              <a:rPr sz="1200" dirty="0">
                <a:latin typeface="Times New Roman"/>
                <a:cs typeface="Times New Roman"/>
              </a:rPr>
              <a:t>no.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3,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pp.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90–95,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2007.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[4]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Seaborn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Developers,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“Seaborn: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Statistical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Visualization,”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[Online].</a:t>
            </a:r>
            <a:endParaRPr sz="1200">
              <a:latin typeface="Times New Roman"/>
              <a:cs typeface="Times New Roman"/>
            </a:endParaRPr>
          </a:p>
          <a:p>
            <a:pPr marL="29337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Available: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https://seaborn.pydata.org.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[Accessed: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Apr.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12,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2025].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1318005"/>
            <a:ext cx="6338570" cy="20717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LINKEDIN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LINK: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600" u="sng" spc="-10" dirty="0">
                <a:solidFill>
                  <a:srgbClr val="955F7C"/>
                </a:solidFill>
                <a:uFill>
                  <a:solidFill>
                    <a:srgbClr val="955F7C"/>
                  </a:solidFill>
                </a:uFill>
                <a:latin typeface="Times New Roman"/>
                <a:cs typeface="Times New Roman"/>
                <a:hlinkClick r:id="rId2"/>
              </a:rPr>
              <a:t>https://www.linkedin.com/feed/update/urn:li:activity:7408191780632072192/</a:t>
            </a:r>
            <a:endParaRPr lang="en-US" sz="1600" u="sng" spc="-10" dirty="0">
              <a:solidFill>
                <a:srgbClr val="955F7C"/>
              </a:solidFill>
              <a:uFill>
                <a:solidFill>
                  <a:srgbClr val="955F7C"/>
                </a:solidFill>
              </a:u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lang="en-IN" sz="1600" u="sng" spc="-10" dirty="0">
              <a:solidFill>
                <a:srgbClr val="955F7C"/>
              </a:solidFill>
              <a:uFill>
                <a:solidFill>
                  <a:srgbClr val="955F7C"/>
                </a:solidFill>
              </a:u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lang="en-IN" sz="1600" u="sng" spc="-10" dirty="0">
              <a:solidFill>
                <a:srgbClr val="955F7C"/>
              </a:solidFill>
              <a:uFill>
                <a:solidFill>
                  <a:srgbClr val="955F7C"/>
                </a:solidFill>
              </a:u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lang="en-IN" sz="1600" u="sng" spc="-10" dirty="0">
              <a:solidFill>
                <a:srgbClr val="955F7C"/>
              </a:solidFill>
              <a:uFill>
                <a:solidFill>
                  <a:srgbClr val="955F7C"/>
                </a:solidFill>
              </a:u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lang="en-IN" sz="1600" u="sng" spc="-10" dirty="0">
              <a:solidFill>
                <a:srgbClr val="955F7C"/>
              </a:solidFill>
              <a:uFill>
                <a:solidFill>
                  <a:srgbClr val="955F7C"/>
                </a:solidFill>
              </a:u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IN" sz="1600" b="1" spc="-65" dirty="0">
                <a:latin typeface="Times New Roman"/>
                <a:cs typeface="Times New Roman"/>
              </a:rPr>
              <a:t>GITHUB </a:t>
            </a:r>
            <a:r>
              <a:rPr lang="en-IN" sz="1600" b="1" spc="-10" dirty="0">
                <a:latin typeface="Times New Roman"/>
                <a:cs typeface="Times New Roman"/>
              </a:rPr>
              <a:t>LINK: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IN" sz="1600" dirty="0">
                <a:latin typeface="Times New Roman"/>
                <a:cs typeface="Times New Roman"/>
                <a:hlinkClick r:id="rId3"/>
              </a:rPr>
              <a:t>https://github.com/kumariroshani-890/INT234ProjectPublicLibraries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randomBar dir="vert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191</TotalTime>
  <Words>3811</Words>
  <Application>Microsoft Office PowerPoint</Application>
  <PresentationFormat>Custom</PresentationFormat>
  <Paragraphs>381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Arial</vt:lpstr>
      <vt:lpstr>Arial MT</vt:lpstr>
      <vt:lpstr>Bookman Old Style</vt:lpstr>
      <vt:lpstr>Cambria</vt:lpstr>
      <vt:lpstr>Consolas</vt:lpstr>
      <vt:lpstr>Courier New</vt:lpstr>
      <vt:lpstr>Rockwell</vt:lpstr>
      <vt:lpstr>Segoe UI Emoji</vt:lpstr>
      <vt:lpstr>Symbol</vt:lpstr>
      <vt:lpstr>Times New Roman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GUIDELINES</dc:title>
  <dc:creator>srikanth</dc:creator>
  <cp:lastModifiedBy>Roshani Kumari</cp:lastModifiedBy>
  <cp:revision>2</cp:revision>
  <dcterms:created xsi:type="dcterms:W3CDTF">2025-12-22T16:46:12Z</dcterms:created>
  <dcterms:modified xsi:type="dcterms:W3CDTF">2025-12-23T08:01:51Z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2025-12-20T00:00:00Z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2025-12-22T00:00:00Z</vt:filetime>
  </property>
  <property fmtid="{D5CDD505-2E9C-101B-9397-08002B2CF9AE}" pid="5" name="Producer">
    <vt:lpwstr>Microsoft® Word for Microsoft 365</vt:lpwstr>
  </property>
</Properties>
</file>